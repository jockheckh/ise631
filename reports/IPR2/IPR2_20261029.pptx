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57" r:id="rId4"/>
    <p:sldId id="258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4CA49-4E92-4087-98C1-72A14C141CA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50DDF-DB0F-40C9-A785-40D903E33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1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50DDF-DB0F-40C9-A785-40D903E334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85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189EB-0D71-1251-CFCD-8771CE099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034E7-EC23-6E25-8648-4C4283934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5159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54104-E3ED-AE91-7805-D3DF64DB0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4988"/>
          </a:xfrm>
        </p:spPr>
        <p:txBody>
          <a:bodyPr/>
          <a:lstStyle>
            <a:lvl1pPr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C7618-94DE-1A98-B164-5C7B26DEA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6645"/>
            <a:ext cx="10515600" cy="5280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FA7BB-30E2-D583-6862-755709E22A49}"/>
              </a:ext>
            </a:extLst>
          </p:cNvPr>
          <p:cNvSpPr txBox="1"/>
          <p:nvPr userDrawn="1"/>
        </p:nvSpPr>
        <p:spPr>
          <a:xfrm>
            <a:off x="4458810" y="6553488"/>
            <a:ext cx="6094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Adelman Project IPR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39D66-B878-3F35-C3FC-A1C78122C58B}"/>
              </a:ext>
            </a:extLst>
          </p:cNvPr>
          <p:cNvSpPr txBox="1"/>
          <p:nvPr userDrawn="1"/>
        </p:nvSpPr>
        <p:spPr>
          <a:xfrm>
            <a:off x="73240" y="6553488"/>
            <a:ext cx="6094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POC: Herbert Jockheck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8C680C5-E513-5C73-FE0C-326918EC7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1257" y="6553488"/>
            <a:ext cx="665086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E631C6D-030C-4098-A81A-3EAF4FA34231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FDB90-6F2E-D4E0-7BDD-988FFE9331EE}"/>
              </a:ext>
            </a:extLst>
          </p:cNvPr>
          <p:cNvCxnSpPr>
            <a:cxnSpLocks/>
          </p:cNvCxnSpPr>
          <p:nvPr userDrawn="1"/>
        </p:nvCxnSpPr>
        <p:spPr>
          <a:xfrm>
            <a:off x="0" y="816748"/>
            <a:ext cx="121920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7B779C9-EE86-1AE5-3702-B249F2270551}"/>
              </a:ext>
            </a:extLst>
          </p:cNvPr>
          <p:cNvCxnSpPr>
            <a:cxnSpLocks/>
          </p:cNvCxnSpPr>
          <p:nvPr userDrawn="1"/>
        </p:nvCxnSpPr>
        <p:spPr>
          <a:xfrm>
            <a:off x="0" y="6553488"/>
            <a:ext cx="121920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40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B7F17-4643-DF50-6C97-07A855D5A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FC3C6-0C08-F66B-B77F-6AA67A17C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6218E-5B7D-A7F9-4B92-C8A2D28E07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19680-CD03-FA2D-FC5F-26918DB3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A83DB-8968-50BF-AEE7-B178CD0A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631C6D-030C-4098-A81A-3EAF4FA3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1D24-9833-BC2D-BBCE-C5595B46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7641-8F36-E44F-D636-60850B05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DE5B3-C8DB-2F69-2E27-337D3893B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C44C3-3F18-7ABF-CA10-63829E02D9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F3B68-745C-BCC4-0EBC-FEB293E8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3884C-A031-90C4-5C6C-4A028620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631C6D-030C-4098-A81A-3EAF4FA3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8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2F6D6-0D1F-3A21-8B97-FB7DFF70F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BA994-50A8-1271-69A3-D3CAB8C60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9991A-6335-D72B-4946-491C54E11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2691D-A09F-D274-904F-3F52B499D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8EA9F2-72B1-054C-A29A-A97018192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4353D3-C172-5C63-B27D-79FCEE140ACA}"/>
              </a:ext>
            </a:extLst>
          </p:cNvPr>
          <p:cNvSpPr txBox="1"/>
          <p:nvPr userDrawn="1"/>
        </p:nvSpPr>
        <p:spPr>
          <a:xfrm>
            <a:off x="4458810" y="6553488"/>
            <a:ext cx="6094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Adelman Project IPR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761B2-1E33-9F06-685D-EA07F8517B87}"/>
              </a:ext>
            </a:extLst>
          </p:cNvPr>
          <p:cNvSpPr txBox="1"/>
          <p:nvPr userDrawn="1"/>
        </p:nvSpPr>
        <p:spPr>
          <a:xfrm>
            <a:off x="73240" y="6553488"/>
            <a:ext cx="6094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POC: Herbert Jockheck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82DC4D1-8F29-AB4C-83A0-86846332F1E6}"/>
              </a:ext>
            </a:extLst>
          </p:cNvPr>
          <p:cNvSpPr txBox="1">
            <a:spLocks/>
          </p:cNvSpPr>
          <p:nvPr userDrawn="1"/>
        </p:nvSpPr>
        <p:spPr>
          <a:xfrm>
            <a:off x="11021257" y="6553488"/>
            <a:ext cx="66508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631C6D-030C-4098-A81A-3EAF4FA342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46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6EFE-4346-420A-97D9-7F1B88207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5C66F-9817-EC78-E562-3ACE5F0E9E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1FCEB6-33B7-E25E-3B76-AEAD1C2B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5F347-75F0-E883-289D-C70472218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631C6D-030C-4098-A81A-3EAF4FA3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61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00DCD-5AB2-062F-3B40-45F7E6DC5A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ABE83-4874-6AEF-3CE2-72289529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9BFA5-C6F0-DF76-5426-5508C5FFB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631C6D-030C-4098-A81A-3EAF4FA3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0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75288-0D00-6753-10D4-F4E48C23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122EF-7D85-4334-F2F8-07BE49AB6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88002-07B6-C7A4-A223-72F929A06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253BA-0219-9E49-18AE-F90088AC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E9F06-4848-2805-3A8A-0FCFE4AE1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8ED08-B1A4-A9DA-A243-38CD6DE7F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631C6D-030C-4098-A81A-3EAF4FA3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4A09-CDFB-619F-A0FE-DE8211949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00B960-C916-2E96-4B86-21B8EC8E386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E7598-982D-CFEA-013A-5E18A3E2B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0C38A-AEF1-B7C1-A35F-6613E33045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AFCE1-3C12-1323-F0F6-CEB759AC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A1C75-95F9-D5AD-3420-9A1BAC0C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631C6D-030C-4098-A81A-3EAF4FA3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7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388A0-5C78-8C4F-11AC-2F55A397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2CC14C-B773-74AF-FA30-C68024767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690F4-C117-6233-D09E-EABA03B5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0117B-88F3-6339-8AAA-BD1878009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F2009-EE52-6D98-555A-6F920130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631C6D-030C-4098-A81A-3EAF4FA3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7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8D62C9-E21B-6E79-F228-7C263A2CE6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A20BA-9C04-C8FB-6B12-954C944AE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9F52B-CF5A-059E-7C41-71A0E75219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4393-EF52-FDFA-B79D-03299CE3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3F75E-F4BB-C75A-97FD-550AEB3D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631C6D-030C-4098-A81A-3EAF4FA3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6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1BAC90-03DA-125E-54FB-96EF35270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FB0F5-E809-5C04-1378-4A2F19ADC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787BF-B3CB-4F7A-87F6-DFCD4CEE3064}"/>
              </a:ext>
            </a:extLst>
          </p:cNvPr>
          <p:cNvSpPr txBox="1"/>
          <p:nvPr userDrawn="1"/>
        </p:nvSpPr>
        <p:spPr>
          <a:xfrm>
            <a:off x="4458810" y="6553488"/>
            <a:ext cx="6094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Adelman Project IPR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CA7F83-36E8-E92A-E953-8D122FED9175}"/>
              </a:ext>
            </a:extLst>
          </p:cNvPr>
          <p:cNvSpPr txBox="1"/>
          <p:nvPr userDrawn="1"/>
        </p:nvSpPr>
        <p:spPr>
          <a:xfrm>
            <a:off x="73240" y="6553488"/>
            <a:ext cx="6094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POC: Herbert Jockheck 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FD3D674-EBFC-1143-645B-F793CA46D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1257" y="6553488"/>
            <a:ext cx="665086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E631C6D-030C-4098-A81A-3EAF4FA34231}" type="slidenum">
              <a:rPr lang="en-US" smtClean="0"/>
              <a:pPr/>
              <a:t>‹#›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75835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F5169C-AC5C-E8AC-BCAC-D8D52B28B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/>
              </a:rPr>
              <a:t>IPR 2 Decision Brief</a:t>
            </a:r>
            <a:endParaRPr lang="en-US" dirty="0"/>
          </a:p>
        </p:txBody>
      </p:sp>
      <p:sp>
        <p:nvSpPr>
          <p:cNvPr id="9" name="Editable text 6">
            <a:extLst>
              <a:ext uri="{FF2B5EF4-FFF2-40B4-BE49-F238E27FC236}">
                <a16:creationId xmlns:a16="http://schemas.microsoft.com/office/drawing/2014/main" id="{F6BFBF82-9337-61E5-AC23-07D804AC9A58}"/>
              </a:ext>
            </a:extLst>
          </p:cNvPr>
          <p:cNvSpPr txBox="1"/>
          <p:nvPr/>
        </p:nvSpPr>
        <p:spPr>
          <a:xfrm>
            <a:off x="544704" y="904845"/>
            <a:ext cx="11113896" cy="438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898" dirty="0">
                <a:solidFill>
                  <a:srgbClr val="000000"/>
                </a:solidFill>
                <a:latin typeface="Arial"/>
              </a:rPr>
              <a:t>Purpose: Confirm the Adelman mathematics, course-requirement coverage, and evidence plan for the final presentation</a:t>
            </a:r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18EE0D79-8674-CD9A-3716-E71BFE9E0C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006972"/>
              </p:ext>
            </p:extLst>
          </p:nvPr>
        </p:nvGraphicFramePr>
        <p:xfrm>
          <a:off x="838199" y="1825625"/>
          <a:ext cx="1018222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2616">
                  <a:extLst>
                    <a:ext uri="{9D8B030D-6E8A-4147-A177-3AD203B41FA5}">
                      <a16:colId xmlns:a16="http://schemas.microsoft.com/office/drawing/2014/main" val="2705683729"/>
                    </a:ext>
                  </a:extLst>
                </a:gridCol>
                <a:gridCol w="5049609">
                  <a:extLst>
                    <a:ext uri="{9D8B030D-6E8A-4147-A177-3AD203B41FA5}">
                      <a16:colId xmlns:a16="http://schemas.microsoft.com/office/drawing/2014/main" val="1699608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Agenda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/>
                        </a:rPr>
                        <a:t>Decisions requested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686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/>
                        </a:rPr>
                        <a:t>Progress and requirement crosswalk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153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Review</a:t>
                      </a:r>
                      <a:r>
                        <a:rPr lang="en-US" dirty="0"/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/>
                        </a:rPr>
                        <a:t>Exact, 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fluid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/>
                        </a:rPr>
                        <a:t>, and affine models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/>
                        </a:rPr>
                        <a:t>Confirm Proof and model depth (slide 8)</a:t>
                      </a:r>
                      <a:endParaRPr lang="en-US" b="0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090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/>
                        </a:rPr>
                        <a:t>Bound proof and column generation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400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Experiment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/>
                        </a:rPr>
                        <a:t>Confirm computation scope (slide 10)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890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Final scop and risks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552917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2ECB3F61-4999-222C-43AD-1539985A902D}"/>
              </a:ext>
            </a:extLst>
          </p:cNvPr>
          <p:cNvGrpSpPr/>
          <p:nvPr/>
        </p:nvGrpSpPr>
        <p:grpSpPr>
          <a:xfrm>
            <a:off x="5572125" y="2476500"/>
            <a:ext cx="523875" cy="466725"/>
            <a:chOff x="6029325" y="2962275"/>
            <a:chExt cx="523875" cy="466725"/>
          </a:xfrm>
        </p:grpSpPr>
        <p:sp>
          <p:nvSpPr>
            <p:cNvPr id="16" name="Star: 5 Points 15">
              <a:extLst>
                <a:ext uri="{FF2B5EF4-FFF2-40B4-BE49-F238E27FC236}">
                  <a16:creationId xmlns:a16="http://schemas.microsoft.com/office/drawing/2014/main" id="{2948A102-B7E3-1553-DBAF-C7E20B0E4B5A}"/>
                </a:ext>
              </a:extLst>
            </p:cNvPr>
            <p:cNvSpPr/>
            <p:nvPr/>
          </p:nvSpPr>
          <p:spPr>
            <a:xfrm>
              <a:off x="6029325" y="2962275"/>
              <a:ext cx="523875" cy="466725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A77537-138C-DAA4-DEF9-E292AB2CAFA4}"/>
                </a:ext>
              </a:extLst>
            </p:cNvPr>
            <p:cNvSpPr txBox="1"/>
            <p:nvPr/>
          </p:nvSpPr>
          <p:spPr>
            <a:xfrm>
              <a:off x="6138862" y="3034387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EE0E3C-A030-7A9C-5DED-083C750BE071}"/>
              </a:ext>
            </a:extLst>
          </p:cNvPr>
          <p:cNvGrpSpPr/>
          <p:nvPr/>
        </p:nvGrpSpPr>
        <p:grpSpPr>
          <a:xfrm>
            <a:off x="5600700" y="3457576"/>
            <a:ext cx="523875" cy="466725"/>
            <a:chOff x="6029325" y="2962275"/>
            <a:chExt cx="523875" cy="466725"/>
          </a:xfrm>
        </p:grpSpPr>
        <p:sp>
          <p:nvSpPr>
            <p:cNvPr id="20" name="Star: 5 Points 19">
              <a:extLst>
                <a:ext uri="{FF2B5EF4-FFF2-40B4-BE49-F238E27FC236}">
                  <a16:creationId xmlns:a16="http://schemas.microsoft.com/office/drawing/2014/main" id="{3092B4EC-FFBE-529B-EF7F-D727F63503D2}"/>
                </a:ext>
              </a:extLst>
            </p:cNvPr>
            <p:cNvSpPr/>
            <p:nvPr/>
          </p:nvSpPr>
          <p:spPr>
            <a:xfrm>
              <a:off x="6029325" y="2962275"/>
              <a:ext cx="523875" cy="466725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49D48E4-C203-819E-556D-03AB92118BC1}"/>
                </a:ext>
              </a:extLst>
            </p:cNvPr>
            <p:cNvSpPr txBox="1"/>
            <p:nvPr/>
          </p:nvSpPr>
          <p:spPr>
            <a:xfrm>
              <a:off x="6138862" y="3034387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6244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rectangle 2"/>
          <p:cNvSpPr/>
          <p:nvPr/>
        </p:nvSpPr>
        <p:spPr>
          <a:xfrm>
            <a:off x="1243708" y="5876738"/>
            <a:ext cx="817821" cy="374946"/>
          </a:xfrm>
          <a:prstGeom prst="rect">
            <a:avLst/>
          </a:prstGeom>
          <a:solidFill>
            <a:srgbClr val="A625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Editable rectangle 3"/>
          <p:cNvSpPr/>
          <p:nvPr/>
        </p:nvSpPr>
        <p:spPr>
          <a:xfrm>
            <a:off x="3056179" y="5876738"/>
            <a:ext cx="601047" cy="374946"/>
          </a:xfrm>
          <a:prstGeom prst="rect">
            <a:avLst/>
          </a:prstGeom>
          <a:solidFill>
            <a:srgbClr val="FFE7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ditable rectangle 4"/>
          <p:cNvSpPr/>
          <p:nvPr/>
        </p:nvSpPr>
        <p:spPr>
          <a:xfrm>
            <a:off x="4677897" y="5876738"/>
            <a:ext cx="1108977" cy="374946"/>
          </a:xfrm>
          <a:prstGeom prst="rect">
            <a:avLst/>
          </a:prstGeom>
          <a:solidFill>
            <a:srgbClr val="EEAE3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Editable rectangle 5"/>
          <p:cNvSpPr/>
          <p:nvPr/>
        </p:nvSpPr>
        <p:spPr>
          <a:xfrm>
            <a:off x="6732384" y="5876738"/>
            <a:ext cx="945080" cy="374946"/>
          </a:xfrm>
          <a:prstGeom prst="rect">
            <a:avLst/>
          </a:prstGeom>
          <a:solidFill>
            <a:srgbClr val="1F7A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28602" y="411209"/>
            <a:ext cx="7432374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 dirty="0">
                <a:latin typeface="Arial"/>
              </a:rPr>
              <a:t>Final-presentation crosswalk and status</a:t>
            </a:r>
            <a:endParaRPr lang="en-US" dirty="0"/>
          </a:p>
        </p:txBody>
      </p:sp>
      <p:sp>
        <p:nvSpPr>
          <p:cNvPr id="9" name="Editable text 9"/>
          <p:cNvSpPr txBox="1"/>
          <p:nvPr/>
        </p:nvSpPr>
        <p:spPr>
          <a:xfrm>
            <a:off x="267822" y="5960549"/>
            <a:ext cx="421870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 b="1">
                <a:solidFill>
                  <a:srgbClr val="000000"/>
                </a:solidFill>
                <a:latin typeface="Arial"/>
              </a:rPr>
              <a:t>Key: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857033" y="5960549"/>
            <a:ext cx="1155821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FFFFFF"/>
                </a:solidFill>
                <a:latin typeface="Arial"/>
              </a:rPr>
              <a:t>Red Blocked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459896" y="5960549"/>
            <a:ext cx="1148716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 dirty="0">
                <a:solidFill>
                  <a:srgbClr val="000000"/>
                </a:solidFill>
                <a:latin typeface="Arial"/>
              </a:rPr>
              <a:t>Yellow Draft</a:t>
            </a:r>
            <a:endParaRPr lang="en-US" dirty="0"/>
          </a:p>
        </p:txBody>
      </p:sp>
      <p:sp>
        <p:nvSpPr>
          <p:cNvPr id="12" name="Editable text 12"/>
          <p:cNvSpPr txBox="1"/>
          <p:nvPr/>
        </p:nvSpPr>
        <p:spPr>
          <a:xfrm>
            <a:off x="4055654" y="5960549"/>
            <a:ext cx="1682553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000000"/>
                </a:solidFill>
                <a:latin typeface="Arial"/>
              </a:rPr>
              <a:t>Amber Not started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6185249" y="5960549"/>
            <a:ext cx="1443786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FFFFFF"/>
                </a:solidFill>
                <a:latin typeface="Arial"/>
              </a:rPr>
              <a:t>Green Complete</a:t>
            </a:r>
            <a:endParaRPr lang="en-US"/>
          </a:p>
        </p:txBody>
      </p:sp>
      <p:graphicFrame>
        <p:nvGraphicFramePr>
          <p:cNvPr id="18" name="Editable table 18"/>
          <p:cNvGraphicFramePr/>
          <p:nvPr>
            <p:extLst>
              <p:ext uri="{D42A27DB-BD31-4B8C-83A1-F6EECF244321}">
                <p14:modId xmlns:p14="http://schemas.microsoft.com/office/powerpoint/2010/main" val="1254711907"/>
              </p:ext>
            </p:extLst>
          </p:nvPr>
        </p:nvGraphicFramePr>
        <p:xfrm>
          <a:off x="266129" y="940859"/>
          <a:ext cx="11658587" cy="4741928"/>
        </p:xfrm>
        <a:graphic>
          <a:graphicData uri="http://schemas.openxmlformats.org/drawingml/2006/table">
            <a:tbl>
              <a:tblPr firstRow="1"/>
              <a:tblGrid>
                <a:gridCol w="268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7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7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161">
                <a:tc>
                  <a:txBody>
                    <a:bodyPr/>
                    <a:lstStyle/>
                    <a:p>
                      <a:r>
                        <a:rPr lang="en-US" sz="1588" b="1" dirty="0">
                          <a:solidFill>
                            <a:srgbClr val="000000"/>
                          </a:solidFill>
                          <a:latin typeface="Arial"/>
                        </a:rPr>
                        <a:t>Section (Prof Requirement)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 b="1">
                          <a:solidFill>
                            <a:srgbClr val="000000"/>
                          </a:solidFill>
                          <a:latin typeface="Arial"/>
                        </a:rPr>
                        <a:t>Deliverable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 b="1">
                          <a:solidFill>
                            <a:srgbClr val="000000"/>
                          </a:solidFill>
                          <a:latin typeface="Arial"/>
                        </a:rPr>
                        <a:t>Status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 b="1">
                          <a:solidFill>
                            <a:srgbClr val="000000"/>
                          </a:solidFill>
                          <a:latin typeface="Arial"/>
                        </a:rPr>
                        <a:t>Next action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chemeClr val="tx1"/>
                          </a:solidFill>
                          <a:latin typeface="Arial"/>
                        </a:rPr>
                        <a:t>1. Intro (I14)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rgbClr val="000000"/>
                          </a:solidFill>
                          <a:latin typeface="Arial"/>
                        </a:rPr>
                        <a:t>Pricing motivation and approved RQs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Verify history and prevalence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chemeClr val="tx1"/>
                          </a:solidFill>
                          <a:latin typeface="Arial"/>
                        </a:rPr>
                        <a:t>2. RM (I01–I03)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Discounted LP, exact MDP, fluid LP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Audit signs and example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chemeClr val="tx1"/>
                          </a:solidFill>
                          <a:latin typeface="Arial"/>
                        </a:rPr>
                        <a:t>3. Method (I04–I06, I09)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rgbClr val="000000"/>
                          </a:solidFill>
                          <a:latin typeface="Arial"/>
                        </a:rPr>
                        <a:t>Affine ALP, duality, decision rule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Complete formal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chemeClr val="tx1"/>
                          </a:solidFill>
                          <a:latin typeface="Arial"/>
                        </a:rPr>
                        <a:t>4. Proof (I07, I10)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Bound hierarchy and theorem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File independent proof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chemeClr val="tx1"/>
                          </a:solidFill>
                          <a:latin typeface="Arial"/>
                        </a:rPr>
                        <a:t>5. Scale (I11)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Pricing and column generation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Verify complexity and separation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chemeClr val="tx1"/>
                          </a:solidFill>
                          <a:latin typeface="Arial"/>
                        </a:rPr>
                        <a:t>6. Design (I08, I12)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Benchmarks, metrics, policies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rgbClr val="000000"/>
                          </a:solidFill>
                          <a:latin typeface="Arial"/>
                        </a:rPr>
                        <a:t>Approve factors and baselines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chemeClr val="tx1"/>
                          </a:solidFill>
                          <a:latin typeface="Arial"/>
                        </a:rPr>
                        <a:t>6. Results (I08, I12)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Code, tables, chart, sensitivity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EEA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Pass preflight and tests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chemeClr val="tx1"/>
                          </a:solidFill>
                          <a:latin typeface="Arial"/>
                        </a:rPr>
                        <a:t>7. Critique (I13)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Assumptions and alternatives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Link claims to evidence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chemeClr val="tx1"/>
                          </a:solidFill>
                          <a:latin typeface="Arial"/>
                        </a:rPr>
                        <a:t>8. Literature (I14)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Pricing lineage and FTC context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EEA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Verify works and primary source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chemeClr val="tx1"/>
                          </a:solidFill>
                          <a:latin typeface="Arial"/>
                        </a:rPr>
                        <a:t>8. Extension (I14)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Synthetic pricing application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FFFFFF"/>
                          </a:solidFill>
                          <a:latin typeface="Arial"/>
                        </a:rPr>
                        <a:t>Blocked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A62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rgbClr val="000000"/>
                          </a:solidFill>
                          <a:latin typeface="Arial"/>
                        </a:rPr>
                        <a:t>Pending successful replication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157"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chemeClr val="tx1"/>
                          </a:solidFill>
                          <a:latin typeface="Arial"/>
                        </a:rPr>
                        <a:t>9. Conclusion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Three supported takeaways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 dirty="0">
                          <a:solidFill>
                            <a:srgbClr val="000000"/>
                          </a:solidFill>
                          <a:latin typeface="Arial"/>
                        </a:rPr>
                        <a:t>Update after results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7F4A14B0-69EF-8AD4-009D-B6D896D409E1}"/>
              </a:ext>
            </a:extLst>
          </p:cNvPr>
          <p:cNvSpPr/>
          <p:nvPr/>
        </p:nvSpPr>
        <p:spPr>
          <a:xfrm>
            <a:off x="267794" y="942660"/>
            <a:ext cx="11656383" cy="2065642"/>
          </a:xfrm>
          <a:prstGeom prst="rect">
            <a:avLst/>
          </a:prstGeom>
          <a:gradFill flip="none" rotWithShape="1">
            <a:gsLst>
              <a:gs pos="0">
                <a:srgbClr val="92D050">
                  <a:alpha val="70000"/>
                </a:srgbClr>
              </a:gs>
              <a:gs pos="31000">
                <a:srgbClr val="FFFF00">
                  <a:alpha val="70000"/>
                </a:srgbClr>
              </a:gs>
              <a:gs pos="71000">
                <a:srgbClr val="FFC000">
                  <a:alpha val="70000"/>
                </a:srgbClr>
              </a:gs>
              <a:gs pos="100000">
                <a:srgbClr val="FF0000">
                  <a:alpha val="7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4E4E21-15C7-4017-DB12-903D946F2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latin typeface="Arial"/>
              </a:rPr>
              <a:t>Roadmap from IPR 1 to the final 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D5056-1754-35AF-0BB7-F8B662C8B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793" y="3532230"/>
            <a:ext cx="11656383" cy="250604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Approved Research Questions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gained—and lost—by replacing the exact MDP value function with Adelman’s approximate value function?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does Adelman’s approximate LP produce a bound that dominates the deterministic/fluid formulation?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do LP duality, reduced costs, and column generation make the resulting large-scale problem computationally tractable?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does the method scale with increasing state/action-space complexity, and can portions of the problem be truncated without materially changing the solution?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large are the performance gaps among the fluid formulation, approximate LP, dynamic bid-price policy, and exact MDP—and under what conditions do dynamic prices provide the greatest benefit?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Adelman’s framework be meaningfully applied to a surveillance-pricing problem using real or realistically calibrated data?</a:t>
            </a:r>
          </a:p>
        </p:txBody>
      </p:sp>
      <p:sp>
        <p:nvSpPr>
          <p:cNvPr id="6" name="Editable rectangle 2">
            <a:extLst>
              <a:ext uri="{FF2B5EF4-FFF2-40B4-BE49-F238E27FC236}">
                <a16:creationId xmlns:a16="http://schemas.microsoft.com/office/drawing/2014/main" id="{BCB17607-8DE2-AA5A-74DE-F2C62810A0B6}"/>
              </a:ext>
            </a:extLst>
          </p:cNvPr>
          <p:cNvSpPr/>
          <p:nvPr/>
        </p:nvSpPr>
        <p:spPr>
          <a:xfrm>
            <a:off x="267822" y="942660"/>
            <a:ext cx="11656383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Editable rectangle 3">
            <a:extLst>
              <a:ext uri="{FF2B5EF4-FFF2-40B4-BE49-F238E27FC236}">
                <a16:creationId xmlns:a16="http://schemas.microsoft.com/office/drawing/2014/main" id="{90113AEB-C8AF-2AA3-3837-FA734E85BCA0}"/>
              </a:ext>
            </a:extLst>
          </p:cNvPr>
          <p:cNvSpPr/>
          <p:nvPr/>
        </p:nvSpPr>
        <p:spPr>
          <a:xfrm>
            <a:off x="267822" y="1339433"/>
            <a:ext cx="11656383" cy="133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Editable rectangle 4">
            <a:extLst>
              <a:ext uri="{FF2B5EF4-FFF2-40B4-BE49-F238E27FC236}">
                <a16:creationId xmlns:a16="http://schemas.microsoft.com/office/drawing/2014/main" id="{2C8E3D97-6CD4-0EFE-0AEE-A64788C5AB9A}"/>
              </a:ext>
            </a:extLst>
          </p:cNvPr>
          <p:cNvSpPr/>
          <p:nvPr/>
        </p:nvSpPr>
        <p:spPr>
          <a:xfrm>
            <a:off x="267822" y="3008302"/>
            <a:ext cx="11656383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Editable text 8">
            <a:extLst>
              <a:ext uri="{FF2B5EF4-FFF2-40B4-BE49-F238E27FC236}">
                <a16:creationId xmlns:a16="http://schemas.microsoft.com/office/drawing/2014/main" id="{A4288599-A0D3-CD5F-C845-A8F1C6D46B17}"/>
              </a:ext>
            </a:extLst>
          </p:cNvPr>
          <p:cNvSpPr txBox="1"/>
          <p:nvPr/>
        </p:nvSpPr>
        <p:spPr>
          <a:xfrm>
            <a:off x="267822" y="1041372"/>
            <a:ext cx="1269042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IPR 1: scope</a:t>
            </a:r>
            <a:endParaRPr lang="en-US"/>
          </a:p>
        </p:txBody>
      </p:sp>
      <p:sp>
        <p:nvSpPr>
          <p:cNvPr id="14" name="Editable text 9">
            <a:extLst>
              <a:ext uri="{FF2B5EF4-FFF2-40B4-BE49-F238E27FC236}">
                <a16:creationId xmlns:a16="http://schemas.microsoft.com/office/drawing/2014/main" id="{06806DF9-9857-F175-3076-1DD9AC127937}"/>
              </a:ext>
            </a:extLst>
          </p:cNvPr>
          <p:cNvSpPr txBox="1"/>
          <p:nvPr/>
        </p:nvSpPr>
        <p:spPr>
          <a:xfrm>
            <a:off x="3046427" y="1041372"/>
            <a:ext cx="1333102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IPR 2: theory</a:t>
            </a:r>
            <a:endParaRPr lang="en-US"/>
          </a:p>
        </p:txBody>
      </p:sp>
      <p:sp>
        <p:nvSpPr>
          <p:cNvPr id="16" name="Editable text 10">
            <a:extLst>
              <a:ext uri="{FF2B5EF4-FFF2-40B4-BE49-F238E27FC236}">
                <a16:creationId xmlns:a16="http://schemas.microsoft.com/office/drawing/2014/main" id="{CFE9CF1A-A1B7-51CF-DAD6-BF072CDF497F}"/>
              </a:ext>
            </a:extLst>
          </p:cNvPr>
          <p:cNvSpPr txBox="1"/>
          <p:nvPr/>
        </p:nvSpPr>
        <p:spPr>
          <a:xfrm>
            <a:off x="6174901" y="1041372"/>
            <a:ext cx="1541140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IPR 3: evidence</a:t>
            </a:r>
            <a:endParaRPr lang="en-US"/>
          </a:p>
        </p:txBody>
      </p:sp>
      <p:sp>
        <p:nvSpPr>
          <p:cNvPr id="18" name="Editable text 11">
            <a:extLst>
              <a:ext uri="{FF2B5EF4-FFF2-40B4-BE49-F238E27FC236}">
                <a16:creationId xmlns:a16="http://schemas.microsoft.com/office/drawing/2014/main" id="{D6A768C7-6836-FB77-3DB2-2266692003BF}"/>
              </a:ext>
            </a:extLst>
          </p:cNvPr>
          <p:cNvSpPr txBox="1"/>
          <p:nvPr/>
        </p:nvSpPr>
        <p:spPr>
          <a:xfrm>
            <a:off x="9303590" y="1041372"/>
            <a:ext cx="1501718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Final: synthesis</a:t>
            </a:r>
            <a:endParaRPr lang="en-US"/>
          </a:p>
        </p:txBody>
      </p:sp>
      <p:sp>
        <p:nvSpPr>
          <p:cNvPr id="20" name="Editable text 12">
            <a:extLst>
              <a:ext uri="{FF2B5EF4-FFF2-40B4-BE49-F238E27FC236}">
                <a16:creationId xmlns:a16="http://schemas.microsoft.com/office/drawing/2014/main" id="{E04B1E23-5B7F-DD0C-E394-B165DD5910AB}"/>
              </a:ext>
            </a:extLst>
          </p:cNvPr>
          <p:cNvSpPr txBox="1"/>
          <p:nvPr/>
        </p:nvSpPr>
        <p:spPr>
          <a:xfrm>
            <a:off x="267822" y="1431337"/>
            <a:ext cx="2391282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 dirty="0">
                <a:solidFill>
                  <a:srgbClr val="000000"/>
                </a:solidFill>
                <a:latin typeface="Arial"/>
              </a:rPr>
              <a:t>• Six approved questions</a:t>
            </a:r>
            <a:endParaRPr lang="en-US" dirty="0"/>
          </a:p>
        </p:txBody>
      </p:sp>
      <p:sp>
        <p:nvSpPr>
          <p:cNvPr id="22" name="Editable text 13">
            <a:extLst>
              <a:ext uri="{FF2B5EF4-FFF2-40B4-BE49-F238E27FC236}">
                <a16:creationId xmlns:a16="http://schemas.microsoft.com/office/drawing/2014/main" id="{C097229F-3CAD-4A8E-15F6-4A34324090AE}"/>
              </a:ext>
            </a:extLst>
          </p:cNvPr>
          <p:cNvSpPr txBox="1"/>
          <p:nvPr/>
        </p:nvSpPr>
        <p:spPr>
          <a:xfrm>
            <a:off x="267822" y="1685772"/>
            <a:ext cx="1236690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LP themes</a:t>
            </a:r>
            <a:endParaRPr lang="en-US"/>
          </a:p>
        </p:txBody>
      </p:sp>
      <p:sp>
        <p:nvSpPr>
          <p:cNvPr id="24" name="Editable text 14">
            <a:extLst>
              <a:ext uri="{FF2B5EF4-FFF2-40B4-BE49-F238E27FC236}">
                <a16:creationId xmlns:a16="http://schemas.microsoft.com/office/drawing/2014/main" id="{E953F274-E7DC-932C-A03D-46A8A2B86C40}"/>
              </a:ext>
            </a:extLst>
          </p:cNvPr>
          <p:cNvSpPr txBox="1"/>
          <p:nvPr/>
        </p:nvSpPr>
        <p:spPr>
          <a:xfrm>
            <a:off x="267822" y="1940181"/>
            <a:ext cx="1775529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Verification plan</a:t>
            </a:r>
            <a:endParaRPr lang="en-US"/>
          </a:p>
        </p:txBody>
      </p:sp>
      <p:sp>
        <p:nvSpPr>
          <p:cNvPr id="26" name="Editable text 15">
            <a:extLst>
              <a:ext uri="{FF2B5EF4-FFF2-40B4-BE49-F238E27FC236}">
                <a16:creationId xmlns:a16="http://schemas.microsoft.com/office/drawing/2014/main" id="{E39FF958-380D-3901-3AE0-53B9AD32C169}"/>
              </a:ext>
            </a:extLst>
          </p:cNvPr>
          <p:cNvSpPr txBox="1"/>
          <p:nvPr/>
        </p:nvSpPr>
        <p:spPr>
          <a:xfrm>
            <a:off x="267822" y="2194616"/>
            <a:ext cx="2284372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 dirty="0">
                <a:solidFill>
                  <a:srgbClr val="000000"/>
                </a:solidFill>
                <a:latin typeface="Arial"/>
              </a:rPr>
              <a:t>• Application guardrails</a:t>
            </a:r>
            <a:endParaRPr lang="en-US" dirty="0"/>
          </a:p>
        </p:txBody>
      </p:sp>
      <p:sp>
        <p:nvSpPr>
          <p:cNvPr id="28" name="Editable text 16">
            <a:extLst>
              <a:ext uri="{FF2B5EF4-FFF2-40B4-BE49-F238E27FC236}">
                <a16:creationId xmlns:a16="http://schemas.microsoft.com/office/drawing/2014/main" id="{02AAB769-8EB2-0FA2-D420-7E6837E8FCA2}"/>
              </a:ext>
            </a:extLst>
          </p:cNvPr>
          <p:cNvSpPr txBox="1"/>
          <p:nvPr/>
        </p:nvSpPr>
        <p:spPr>
          <a:xfrm>
            <a:off x="3046474" y="1431337"/>
            <a:ext cx="2694659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Exact and discounted LPs</a:t>
            </a:r>
            <a:endParaRPr lang="en-US"/>
          </a:p>
        </p:txBody>
      </p:sp>
      <p:sp>
        <p:nvSpPr>
          <p:cNvPr id="30" name="Editable text 17">
            <a:extLst>
              <a:ext uri="{FF2B5EF4-FFF2-40B4-BE49-F238E27FC236}">
                <a16:creationId xmlns:a16="http://schemas.microsoft.com/office/drawing/2014/main" id="{BB2B808C-826C-E1ED-D15C-5F294B3493BC}"/>
              </a:ext>
            </a:extLst>
          </p:cNvPr>
          <p:cNvSpPr txBox="1"/>
          <p:nvPr/>
        </p:nvSpPr>
        <p:spPr>
          <a:xfrm>
            <a:off x="3046474" y="1685772"/>
            <a:ext cx="2442487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Fluid and affine models</a:t>
            </a:r>
            <a:endParaRPr lang="en-US"/>
          </a:p>
        </p:txBody>
      </p:sp>
      <p:sp>
        <p:nvSpPr>
          <p:cNvPr id="32" name="Editable text 18">
            <a:extLst>
              <a:ext uri="{FF2B5EF4-FFF2-40B4-BE49-F238E27FC236}">
                <a16:creationId xmlns:a16="http://schemas.microsoft.com/office/drawing/2014/main" id="{D8ED9232-8134-9A12-8D28-833253956173}"/>
              </a:ext>
            </a:extLst>
          </p:cNvPr>
          <p:cNvSpPr txBox="1"/>
          <p:nvPr/>
        </p:nvSpPr>
        <p:spPr>
          <a:xfrm>
            <a:off x="3046474" y="1940181"/>
            <a:ext cx="1408089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Bound proof</a:t>
            </a:r>
            <a:endParaRPr lang="en-US"/>
          </a:p>
        </p:txBody>
      </p:sp>
      <p:sp>
        <p:nvSpPr>
          <p:cNvPr id="34" name="Editable text 19">
            <a:extLst>
              <a:ext uri="{FF2B5EF4-FFF2-40B4-BE49-F238E27FC236}">
                <a16:creationId xmlns:a16="http://schemas.microsoft.com/office/drawing/2014/main" id="{2BB9EC87-9CB3-13E6-B991-B3F7AC812C31}"/>
              </a:ext>
            </a:extLst>
          </p:cNvPr>
          <p:cNvSpPr txBox="1"/>
          <p:nvPr/>
        </p:nvSpPr>
        <p:spPr>
          <a:xfrm>
            <a:off x="3046474" y="2194616"/>
            <a:ext cx="2046981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Pricing formulation</a:t>
            </a:r>
            <a:endParaRPr lang="en-US"/>
          </a:p>
        </p:txBody>
      </p:sp>
      <p:sp>
        <p:nvSpPr>
          <p:cNvPr id="36" name="Editable text 20">
            <a:extLst>
              <a:ext uri="{FF2B5EF4-FFF2-40B4-BE49-F238E27FC236}">
                <a16:creationId xmlns:a16="http://schemas.microsoft.com/office/drawing/2014/main" id="{140F1AA1-CF21-8B86-CE7D-0B4FFB416F66}"/>
              </a:ext>
            </a:extLst>
          </p:cNvPr>
          <p:cNvSpPr txBox="1"/>
          <p:nvPr/>
        </p:nvSpPr>
        <p:spPr>
          <a:xfrm>
            <a:off x="3046474" y="2449024"/>
            <a:ext cx="2176174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 dirty="0">
                <a:solidFill>
                  <a:srgbClr val="000000"/>
                </a:solidFill>
                <a:latin typeface="Arial"/>
              </a:rPr>
              <a:t>• Experiment approval</a:t>
            </a:r>
            <a:endParaRPr lang="en-US" dirty="0"/>
          </a:p>
        </p:txBody>
      </p:sp>
      <p:sp>
        <p:nvSpPr>
          <p:cNvPr id="38" name="Editable text 21">
            <a:extLst>
              <a:ext uri="{FF2B5EF4-FFF2-40B4-BE49-F238E27FC236}">
                <a16:creationId xmlns:a16="http://schemas.microsoft.com/office/drawing/2014/main" id="{8AF97B74-8A9E-DABC-6209-0B5452E66428}"/>
              </a:ext>
            </a:extLst>
          </p:cNvPr>
          <p:cNvSpPr txBox="1"/>
          <p:nvPr/>
        </p:nvSpPr>
        <p:spPr>
          <a:xfrm>
            <a:off x="6174830" y="1431337"/>
            <a:ext cx="2009489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Independent oracle</a:t>
            </a:r>
            <a:endParaRPr lang="en-US"/>
          </a:p>
        </p:txBody>
      </p:sp>
      <p:sp>
        <p:nvSpPr>
          <p:cNvPr id="40" name="Editable text 22">
            <a:extLst>
              <a:ext uri="{FF2B5EF4-FFF2-40B4-BE49-F238E27FC236}">
                <a16:creationId xmlns:a16="http://schemas.microsoft.com/office/drawing/2014/main" id="{E6D5D348-F8C7-93E2-0312-30ED67BCDA05}"/>
              </a:ext>
            </a:extLst>
          </p:cNvPr>
          <p:cNvSpPr txBox="1"/>
          <p:nvPr/>
        </p:nvSpPr>
        <p:spPr>
          <a:xfrm>
            <a:off x="6174830" y="1685772"/>
            <a:ext cx="1777027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Certified bounds</a:t>
            </a:r>
            <a:endParaRPr lang="en-US"/>
          </a:p>
        </p:txBody>
      </p:sp>
      <p:sp>
        <p:nvSpPr>
          <p:cNvPr id="42" name="Editable text 23">
            <a:extLst>
              <a:ext uri="{FF2B5EF4-FFF2-40B4-BE49-F238E27FC236}">
                <a16:creationId xmlns:a16="http://schemas.microsoft.com/office/drawing/2014/main" id="{DD39D022-D038-CD2A-679E-3306F2BF66D1}"/>
              </a:ext>
            </a:extLst>
          </p:cNvPr>
          <p:cNvSpPr txBox="1"/>
          <p:nvPr/>
        </p:nvSpPr>
        <p:spPr>
          <a:xfrm>
            <a:off x="6174830" y="1940181"/>
            <a:ext cx="2443132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Static/dynamic policies</a:t>
            </a:r>
            <a:endParaRPr lang="en-US"/>
          </a:p>
        </p:txBody>
      </p:sp>
      <p:sp>
        <p:nvSpPr>
          <p:cNvPr id="44" name="Editable text 24">
            <a:extLst>
              <a:ext uri="{FF2B5EF4-FFF2-40B4-BE49-F238E27FC236}">
                <a16:creationId xmlns:a16="http://schemas.microsoft.com/office/drawing/2014/main" id="{987AA3E4-BE97-FE67-077C-56483F046848}"/>
              </a:ext>
            </a:extLst>
          </p:cNvPr>
          <p:cNvSpPr txBox="1"/>
          <p:nvPr/>
        </p:nvSpPr>
        <p:spPr>
          <a:xfrm>
            <a:off x="6174830" y="2194616"/>
            <a:ext cx="2368357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Scaling and truncation</a:t>
            </a:r>
            <a:endParaRPr lang="en-US"/>
          </a:p>
        </p:txBody>
      </p:sp>
      <p:sp>
        <p:nvSpPr>
          <p:cNvPr id="46" name="Editable text 25">
            <a:extLst>
              <a:ext uri="{FF2B5EF4-FFF2-40B4-BE49-F238E27FC236}">
                <a16:creationId xmlns:a16="http://schemas.microsoft.com/office/drawing/2014/main" id="{8065DBA2-8FB6-BE68-BECE-D7E0AE8499A8}"/>
              </a:ext>
            </a:extLst>
          </p:cNvPr>
          <p:cNvSpPr txBox="1"/>
          <p:nvPr/>
        </p:nvSpPr>
        <p:spPr>
          <a:xfrm>
            <a:off x="6174830" y="2449024"/>
            <a:ext cx="1781957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Reviewed results</a:t>
            </a:r>
            <a:endParaRPr lang="en-US"/>
          </a:p>
        </p:txBody>
      </p:sp>
      <p:sp>
        <p:nvSpPr>
          <p:cNvPr id="48" name="Editable text 26">
            <a:extLst>
              <a:ext uri="{FF2B5EF4-FFF2-40B4-BE49-F238E27FC236}">
                <a16:creationId xmlns:a16="http://schemas.microsoft.com/office/drawing/2014/main" id="{99ADC1C3-0D99-7BAB-C6B9-6CEA2A029F27}"/>
              </a:ext>
            </a:extLst>
          </p:cNvPr>
          <p:cNvSpPr txBox="1"/>
          <p:nvPr/>
        </p:nvSpPr>
        <p:spPr>
          <a:xfrm>
            <a:off x="9303160" y="1431337"/>
            <a:ext cx="1252758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Motivation</a:t>
            </a:r>
            <a:endParaRPr lang="en-US"/>
          </a:p>
        </p:txBody>
      </p:sp>
      <p:sp>
        <p:nvSpPr>
          <p:cNvPr id="50" name="Editable text 27">
            <a:extLst>
              <a:ext uri="{FF2B5EF4-FFF2-40B4-BE49-F238E27FC236}">
                <a16:creationId xmlns:a16="http://schemas.microsoft.com/office/drawing/2014/main" id="{4ED6B0C0-55CC-855E-C71F-8D50BC786102}"/>
              </a:ext>
            </a:extLst>
          </p:cNvPr>
          <p:cNvSpPr txBox="1"/>
          <p:nvPr/>
        </p:nvSpPr>
        <p:spPr>
          <a:xfrm>
            <a:off x="9303160" y="1685772"/>
            <a:ext cx="1643980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Adelman result</a:t>
            </a:r>
            <a:endParaRPr lang="en-US"/>
          </a:p>
        </p:txBody>
      </p:sp>
      <p:sp>
        <p:nvSpPr>
          <p:cNvPr id="52" name="Editable text 28">
            <a:extLst>
              <a:ext uri="{FF2B5EF4-FFF2-40B4-BE49-F238E27FC236}">
                <a16:creationId xmlns:a16="http://schemas.microsoft.com/office/drawing/2014/main" id="{459BE7D3-3CE7-7FDD-1667-401F5606EFC8}"/>
              </a:ext>
            </a:extLst>
          </p:cNvPr>
          <p:cNvSpPr txBox="1"/>
          <p:nvPr/>
        </p:nvSpPr>
        <p:spPr>
          <a:xfrm>
            <a:off x="9303160" y="1940181"/>
            <a:ext cx="2361931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Measured comparisons</a:t>
            </a:r>
            <a:endParaRPr lang="en-US"/>
          </a:p>
        </p:txBody>
      </p:sp>
      <p:sp>
        <p:nvSpPr>
          <p:cNvPr id="54" name="Editable text 29">
            <a:extLst>
              <a:ext uri="{FF2B5EF4-FFF2-40B4-BE49-F238E27FC236}">
                <a16:creationId xmlns:a16="http://schemas.microsoft.com/office/drawing/2014/main" id="{EC8A72B4-7709-976C-9F4E-D577462841E9}"/>
              </a:ext>
            </a:extLst>
          </p:cNvPr>
          <p:cNvSpPr txBox="1"/>
          <p:nvPr/>
        </p:nvSpPr>
        <p:spPr>
          <a:xfrm>
            <a:off x="9303160" y="2194616"/>
            <a:ext cx="972093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Critique</a:t>
            </a:r>
            <a:endParaRPr lang="en-US"/>
          </a:p>
        </p:txBody>
      </p:sp>
      <p:sp>
        <p:nvSpPr>
          <p:cNvPr id="56" name="Editable text 30">
            <a:extLst>
              <a:ext uri="{FF2B5EF4-FFF2-40B4-BE49-F238E27FC236}">
                <a16:creationId xmlns:a16="http://schemas.microsoft.com/office/drawing/2014/main" id="{D2826829-65F6-D61B-8F84-EA79FA8EE45D}"/>
              </a:ext>
            </a:extLst>
          </p:cNvPr>
          <p:cNvSpPr txBox="1"/>
          <p:nvPr/>
        </p:nvSpPr>
        <p:spPr>
          <a:xfrm>
            <a:off x="9303160" y="2449024"/>
            <a:ext cx="1891010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Gated application</a:t>
            </a:r>
            <a:endParaRPr lang="en-US"/>
          </a:p>
        </p:txBody>
      </p:sp>
      <p:sp>
        <p:nvSpPr>
          <p:cNvPr id="58" name="Editable text 31">
            <a:extLst>
              <a:ext uri="{FF2B5EF4-FFF2-40B4-BE49-F238E27FC236}">
                <a16:creationId xmlns:a16="http://schemas.microsoft.com/office/drawing/2014/main" id="{6D85A11A-C4B2-9838-912B-21E69B272CD7}"/>
              </a:ext>
            </a:extLst>
          </p:cNvPr>
          <p:cNvSpPr txBox="1"/>
          <p:nvPr/>
        </p:nvSpPr>
        <p:spPr>
          <a:xfrm>
            <a:off x="9303160" y="2703459"/>
            <a:ext cx="804335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Limits</a:t>
            </a:r>
            <a:endParaRPr lang="en-US"/>
          </a:p>
        </p:txBody>
      </p:sp>
      <p:sp>
        <p:nvSpPr>
          <p:cNvPr id="60" name="Editable text 32">
            <a:extLst>
              <a:ext uri="{FF2B5EF4-FFF2-40B4-BE49-F238E27FC236}">
                <a16:creationId xmlns:a16="http://schemas.microsoft.com/office/drawing/2014/main" id="{098B73C2-D691-804D-0847-4AF62FBF7768}"/>
              </a:ext>
            </a:extLst>
          </p:cNvPr>
          <p:cNvSpPr txBox="1"/>
          <p:nvPr/>
        </p:nvSpPr>
        <p:spPr>
          <a:xfrm>
            <a:off x="267822" y="3027149"/>
            <a:ext cx="10327519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 dirty="0">
                <a:solidFill>
                  <a:srgbClr val="000000"/>
                </a:solidFill>
                <a:latin typeface="Arial"/>
              </a:rPr>
              <a:t>Current gate: Theory drafted. Experiment design/code </a:t>
            </a:r>
            <a:r>
              <a:rPr lang="en-US" sz="1687">
                <a:solidFill>
                  <a:srgbClr val="000000"/>
                </a:solidFill>
                <a:latin typeface="Arial"/>
              </a:rPr>
              <a:t>in progress.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5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1BD8-4CE3-2BD0-5C19-25105970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latin typeface="Arial"/>
              </a:rPr>
              <a:t>Finite-horizon network revenue management</a:t>
            </a:r>
            <a:endParaRPr lang="en-US" dirty="0"/>
          </a:p>
        </p:txBody>
      </p:sp>
      <p:sp>
        <p:nvSpPr>
          <p:cNvPr id="6" name="Editable text 5">
            <a:extLst>
              <a:ext uri="{FF2B5EF4-FFF2-40B4-BE49-F238E27FC236}">
                <a16:creationId xmlns:a16="http://schemas.microsoft.com/office/drawing/2014/main" id="{BE3C593E-0E98-50DB-25AD-3A0445BF7F57}"/>
              </a:ext>
            </a:extLst>
          </p:cNvPr>
          <p:cNvSpPr txBox="1"/>
          <p:nvPr/>
        </p:nvSpPr>
        <p:spPr>
          <a:xfrm>
            <a:off x="267823" y="3221567"/>
            <a:ext cx="2731549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One-period MDP sketch</a:t>
            </a:r>
            <a:endParaRPr lang="en-US"/>
          </a:p>
        </p:txBody>
      </p:sp>
      <p:sp>
        <p:nvSpPr>
          <p:cNvPr id="8" name="Editable text 6">
            <a:extLst>
              <a:ext uri="{FF2B5EF4-FFF2-40B4-BE49-F238E27FC236}">
                <a16:creationId xmlns:a16="http://schemas.microsoft.com/office/drawing/2014/main" id="{0E472F4D-E2F6-4378-5C71-E73F87728EFF}"/>
              </a:ext>
            </a:extLst>
          </p:cNvPr>
          <p:cNvSpPr txBox="1"/>
          <p:nvPr/>
        </p:nvSpPr>
        <p:spPr>
          <a:xfrm>
            <a:off x="6329183" y="3221567"/>
            <a:ext cx="297475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Adelman’s acceptance rule</a:t>
            </a:r>
            <a:endParaRPr lang="en-US"/>
          </a:p>
        </p:txBody>
      </p:sp>
      <p:sp>
        <p:nvSpPr>
          <p:cNvPr id="10" name="Editable text 7">
            <a:extLst>
              <a:ext uri="{FF2B5EF4-FFF2-40B4-BE49-F238E27FC236}">
                <a16:creationId xmlns:a16="http://schemas.microsoft.com/office/drawing/2014/main" id="{FDCE20D7-EAD3-D8DA-C03F-46C6AA2C7339}"/>
              </a:ext>
            </a:extLst>
          </p:cNvPr>
          <p:cNvSpPr txBox="1"/>
          <p:nvPr/>
        </p:nvSpPr>
        <p:spPr>
          <a:xfrm>
            <a:off x="6329182" y="4417998"/>
            <a:ext cx="5524548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000000"/>
                </a:solidFill>
                <a:latin typeface="Arial"/>
              </a:rPr>
              <a:t>Revenue today must cover the next-period value of capacity used.</a:t>
            </a:r>
            <a:endParaRPr lang="en-US"/>
          </a:p>
        </p:txBody>
      </p:sp>
      <p:sp>
        <p:nvSpPr>
          <p:cNvPr id="12" name="Editable text 8">
            <a:extLst>
              <a:ext uri="{FF2B5EF4-FFF2-40B4-BE49-F238E27FC236}">
                <a16:creationId xmlns:a16="http://schemas.microsoft.com/office/drawing/2014/main" id="{A657CE43-D5AA-EC70-13CE-8F61A9F3894D}"/>
              </a:ext>
            </a:extLst>
          </p:cNvPr>
          <p:cNvSpPr txBox="1"/>
          <p:nvPr/>
        </p:nvSpPr>
        <p:spPr>
          <a:xfrm>
            <a:off x="838200" y="5549079"/>
            <a:ext cx="10296525" cy="4026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4" dirty="0">
                <a:solidFill>
                  <a:srgbClr val="5A666F"/>
                </a:solidFill>
                <a:latin typeface="Arial"/>
              </a:rPr>
              <a:t>Variables: t = 1, . . . , T period; </a:t>
            </a:r>
            <a:r>
              <a:rPr lang="en-US" sz="1054" dirty="0" err="1">
                <a:solidFill>
                  <a:srgbClr val="5A666F"/>
                </a:solidFill>
                <a:latin typeface="Arial"/>
              </a:rPr>
              <a:t>i</a:t>
            </a:r>
            <a:r>
              <a:rPr lang="en-US" sz="1054" dirty="0">
                <a:solidFill>
                  <a:srgbClr val="5A666F"/>
                </a:solidFill>
                <a:latin typeface="Arial"/>
              </a:rPr>
              <a:t> = 1, . . . , m resource; j = 1, . . . , n class; ci initial and </a:t>
            </a:r>
            <a:r>
              <a:rPr lang="en-US" sz="1054" dirty="0" err="1">
                <a:solidFill>
                  <a:srgbClr val="5A666F"/>
                </a:solidFill>
                <a:latin typeface="Arial"/>
              </a:rPr>
              <a:t>ri</a:t>
            </a:r>
            <a:r>
              <a:rPr lang="en-US" sz="1054" dirty="0">
                <a:solidFill>
                  <a:srgbClr val="5A666F"/>
                </a:solidFill>
                <a:latin typeface="Arial"/>
              </a:rPr>
              <a:t> remaining capacity; </a:t>
            </a:r>
            <a:r>
              <a:rPr lang="en-US" sz="1054" dirty="0" err="1">
                <a:solidFill>
                  <a:srgbClr val="5A666F"/>
                </a:solidFill>
                <a:latin typeface="Arial"/>
              </a:rPr>
              <a:t>aij</a:t>
            </a:r>
            <a:r>
              <a:rPr lang="en-US" sz="1054" dirty="0">
                <a:solidFill>
                  <a:srgbClr val="5A666F"/>
                </a:solidFill>
                <a:latin typeface="Arial"/>
              </a:rPr>
              <a:t> units used; Aj = (</a:t>
            </a:r>
            <a:r>
              <a:rPr lang="en-US" sz="1054" dirty="0" err="1">
                <a:solidFill>
                  <a:srgbClr val="5A666F"/>
                </a:solidFill>
                <a:latin typeface="Arial"/>
              </a:rPr>
              <a:t>aij</a:t>
            </a:r>
            <a:r>
              <a:rPr lang="en-US" sz="1054" dirty="0">
                <a:solidFill>
                  <a:srgbClr val="5A666F"/>
                </a:solidFill>
                <a:latin typeface="Arial"/>
              </a:rPr>
              <a:t> )</a:t>
            </a:r>
            <a:r>
              <a:rPr lang="en-US" sz="1054" dirty="0" err="1">
                <a:solidFill>
                  <a:srgbClr val="5A666F"/>
                </a:solidFill>
                <a:latin typeface="Arial"/>
              </a:rPr>
              <a:t>i</a:t>
            </a:r>
            <a:r>
              <a:rPr lang="en-US" sz="1054" dirty="0">
                <a:solidFill>
                  <a:srgbClr val="5A666F"/>
                </a:solidFill>
                <a:latin typeface="Arial"/>
              </a:rPr>
              <a:t> ; </a:t>
            </a:r>
            <a:r>
              <a:rPr lang="en-US" sz="1054" dirty="0" err="1">
                <a:solidFill>
                  <a:srgbClr val="5A666F"/>
                </a:solidFill>
                <a:latin typeface="Arial"/>
              </a:rPr>
              <a:t>ptj</a:t>
            </a:r>
            <a:r>
              <a:rPr lang="en-US" sz="1054" dirty="0">
                <a:solidFill>
                  <a:srgbClr val="5A666F"/>
                </a:solidFill>
                <a:latin typeface="Arial"/>
              </a:rPr>
              <a:t> arrival probability; </a:t>
            </a:r>
            <a:r>
              <a:rPr lang="en-US" sz="1054" dirty="0" err="1">
                <a:solidFill>
                  <a:srgbClr val="5A666F"/>
                </a:solidFill>
                <a:latin typeface="Arial"/>
              </a:rPr>
              <a:t>uj</a:t>
            </a:r>
            <a:r>
              <a:rPr lang="en-US" sz="1054" dirty="0">
                <a:solidFill>
                  <a:srgbClr val="5A666F"/>
                </a:solidFill>
                <a:latin typeface="Arial"/>
              </a:rPr>
              <a:t> accept indicator; fj </a:t>
            </a:r>
            <a:r>
              <a:rPr kumimoji="0" lang="en-US" sz="1054" b="0" i="0" u="none" strike="noStrike" kern="1200" cap="none" spc="0" normalizeH="0" baseline="0" noProof="0" dirty="0">
                <a:ln>
                  <a:noFill/>
                </a:ln>
                <a:solidFill>
                  <a:srgbClr val="5A666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fare; </a:t>
            </a:r>
            <a:r>
              <a:rPr kumimoji="0" lang="en-US" sz="1054" b="0" i="0" u="none" strike="noStrike" kern="1200" cap="none" spc="0" normalizeH="0" baseline="0" noProof="0" dirty="0" err="1">
                <a:ln>
                  <a:noFill/>
                </a:ln>
                <a:solidFill>
                  <a:srgbClr val="5A666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vt</a:t>
            </a:r>
            <a:r>
              <a:rPr kumimoji="0" lang="en-US" sz="1054" b="0" i="0" u="none" strike="noStrike" kern="1200" cap="none" spc="0" normalizeH="0" baseline="0" noProof="0" dirty="0">
                <a:ln>
                  <a:noFill/>
                </a:ln>
                <a:solidFill>
                  <a:srgbClr val="5A666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(r) optimal future reward.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algn="l"/>
            <a:endParaRPr lang="en-US" dirty="0"/>
          </a:p>
        </p:txBody>
      </p:sp>
      <p:sp>
        <p:nvSpPr>
          <p:cNvPr id="14" name="Editable text 9">
            <a:extLst>
              <a:ext uri="{FF2B5EF4-FFF2-40B4-BE49-F238E27FC236}">
                <a16:creationId xmlns:a16="http://schemas.microsoft.com/office/drawing/2014/main" id="{87762E7F-8292-F52E-F5FF-4A5A556B364B}"/>
              </a:ext>
            </a:extLst>
          </p:cNvPr>
          <p:cNvSpPr txBox="1"/>
          <p:nvPr/>
        </p:nvSpPr>
        <p:spPr>
          <a:xfrm>
            <a:off x="267822" y="4930233"/>
            <a:ext cx="2024734" cy="195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endParaRPr lang="en-US" dirty="0"/>
          </a:p>
        </p:txBody>
      </p:sp>
      <p:graphicFrame>
        <p:nvGraphicFramePr>
          <p:cNvPr id="16" name="Editable table 14">
            <a:extLst>
              <a:ext uri="{FF2B5EF4-FFF2-40B4-BE49-F238E27FC236}">
                <a16:creationId xmlns:a16="http://schemas.microsoft.com/office/drawing/2014/main" id="{2B3D6014-9EFC-83EB-FA7F-2EDAF32AFB02}"/>
              </a:ext>
            </a:extLst>
          </p:cNvPr>
          <p:cNvGraphicFramePr/>
          <p:nvPr/>
        </p:nvGraphicFramePr>
        <p:xfrm>
          <a:off x="266129" y="940859"/>
          <a:ext cx="11658587" cy="2045208"/>
        </p:xfrm>
        <a:graphic>
          <a:graphicData uri="http://schemas.openxmlformats.org/drawingml/2006/table">
            <a:tbl>
              <a:tblPr firstRow="1"/>
              <a:tblGrid>
                <a:gridCol w="2448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0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161">
                <a:tc>
                  <a:txBody>
                    <a:bodyPr/>
                    <a:lstStyle/>
                    <a:p>
                      <a:r>
                        <a:rPr lang="en-US" sz="1524" b="1">
                          <a:solidFill>
                            <a:srgbClr val="000000"/>
                          </a:solidFill>
                          <a:latin typeface="Arial"/>
                        </a:rPr>
                        <a:t>Model element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24" b="1">
                          <a:solidFill>
                            <a:srgbClr val="000000"/>
                          </a:solidFill>
                          <a:latin typeface="Arial"/>
                        </a:rPr>
                        <a:t>Definition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State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Period t ∈ {1,…,T}; remaining capacity r = (r_1,…,r_m), with each r_i ∈ {0,1,…,c_i}.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Arrival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Class j arrives with probability p_tj. No arrival has probability 1 − Σ_j p_tj. At most one request arrives per period.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Action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u_j ∈ {0,1} indicates whether class j would be accepted; a_ij u_j ≤ r_i for each resource and class.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159"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Reward and next state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24" dirty="0">
                          <a:solidFill>
                            <a:srgbClr val="000000"/>
                          </a:solidFill>
                          <a:latin typeface="Arial"/>
                        </a:rPr>
                        <a:t>Accepting class j earns </a:t>
                      </a:r>
                      <a:r>
                        <a:rPr lang="en-US" sz="1524" dirty="0" err="1">
                          <a:solidFill>
                            <a:srgbClr val="000000"/>
                          </a:solidFill>
                          <a:latin typeface="Arial"/>
                        </a:rPr>
                        <a:t>f_j</a:t>
                      </a:r>
                      <a:r>
                        <a:rPr lang="en-US" sz="1524" dirty="0">
                          <a:solidFill>
                            <a:srgbClr val="000000"/>
                          </a:solidFill>
                          <a:latin typeface="Arial"/>
                        </a:rPr>
                        <a:t> and moves to r − </a:t>
                      </a:r>
                      <a:r>
                        <a:rPr lang="en-US" sz="1524" dirty="0" err="1">
                          <a:solidFill>
                            <a:srgbClr val="000000"/>
                          </a:solidFill>
                          <a:latin typeface="Arial"/>
                        </a:rPr>
                        <a:t>A_j</a:t>
                      </a:r>
                      <a:r>
                        <a:rPr lang="en-US" sz="1524" dirty="0">
                          <a:solidFill>
                            <a:srgbClr val="000000"/>
                          </a:solidFill>
                          <a:latin typeface="Arial"/>
                        </a:rPr>
                        <a:t>; otherwise capacity remains r.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" name="Equation 15">
            <a:extLst>
              <a:ext uri="{FF2B5EF4-FFF2-40B4-BE49-F238E27FC236}">
                <a16:creationId xmlns:a16="http://schemas.microsoft.com/office/drawing/2014/main" id="{7FE58AF8-08F0-7F4F-541B-1286300317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99460" y="3534941"/>
            <a:ext cx="3252684" cy="1129031"/>
          </a:xfrm>
          <a:prstGeom prst="rect">
            <a:avLst/>
          </a:prstGeom>
        </p:spPr>
      </p:pic>
      <p:pic>
        <p:nvPicPr>
          <p:cNvPr id="20" name="Equation 16">
            <a:extLst>
              <a:ext uri="{FF2B5EF4-FFF2-40B4-BE49-F238E27FC236}">
                <a16:creationId xmlns:a16="http://schemas.microsoft.com/office/drawing/2014/main" id="{0982F784-CDF6-F312-3252-620D8E95C03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03755" y="3669349"/>
            <a:ext cx="5633760" cy="645160"/>
          </a:xfrm>
          <a:prstGeom prst="rect">
            <a:avLst/>
          </a:prstGeom>
        </p:spPr>
      </p:pic>
      <p:sp>
        <p:nvSpPr>
          <p:cNvPr id="22" name="Editable text 10">
            <a:extLst>
              <a:ext uri="{FF2B5EF4-FFF2-40B4-BE49-F238E27FC236}">
                <a16:creationId xmlns:a16="http://schemas.microsoft.com/office/drawing/2014/main" id="{8746D443-3A6C-010E-1F0C-2C8DB133447F}"/>
              </a:ext>
            </a:extLst>
          </p:cNvPr>
          <p:cNvSpPr txBox="1"/>
          <p:nvPr/>
        </p:nvSpPr>
        <p:spPr>
          <a:xfrm>
            <a:off x="838200" y="6194345"/>
            <a:ext cx="374803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dirty="0">
                <a:solidFill>
                  <a:srgbClr val="5A666F"/>
                </a:solidFill>
                <a:latin typeface="Arial"/>
              </a:rPr>
              <a:t>Source: Adelman (2007), pp. 648–649, §2.1 and </a:t>
            </a:r>
            <a:r>
              <a:rPr lang="en-US" sz="1054" dirty="0" err="1">
                <a:solidFill>
                  <a:srgbClr val="5A666F"/>
                </a:solidFill>
                <a:latin typeface="Arial"/>
              </a:rPr>
              <a:t>eqs</a:t>
            </a:r>
            <a:r>
              <a:rPr lang="en-US" sz="1054" dirty="0">
                <a:solidFill>
                  <a:srgbClr val="5A666F"/>
                </a:solidFill>
                <a:latin typeface="Arial"/>
              </a:rPr>
              <a:t>. (1)–(2).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961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3AF7-1523-36D5-31CF-4052E8C7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latin typeface="Arial"/>
              </a:rPr>
              <a:t>Exact MDP and its linear program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A99BC-F446-4B03-108F-10B211E9A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31C6D-030C-4098-A81A-3EAF4FA34231}" type="slidenum">
              <a:rPr lang="en-US" smtClean="0"/>
              <a:pPr/>
              <a:t>5</a:t>
            </a:fld>
            <a:endParaRPr lang="en-US" sz="1200" dirty="0"/>
          </a:p>
        </p:txBody>
      </p:sp>
      <p:sp>
        <p:nvSpPr>
          <p:cNvPr id="6" name="Editable text 5">
            <a:extLst>
              <a:ext uri="{FF2B5EF4-FFF2-40B4-BE49-F238E27FC236}">
                <a16:creationId xmlns:a16="http://schemas.microsoft.com/office/drawing/2014/main" id="{82CB0C7A-5A85-9558-87A7-5C4078127093}"/>
              </a:ext>
            </a:extLst>
          </p:cNvPr>
          <p:cNvSpPr txBox="1"/>
          <p:nvPr/>
        </p:nvSpPr>
        <p:spPr>
          <a:xfrm>
            <a:off x="267823" y="1071651"/>
            <a:ext cx="2000981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Bellman recursion</a:t>
            </a:r>
            <a:endParaRPr lang="en-US"/>
          </a:p>
        </p:txBody>
      </p:sp>
      <p:sp>
        <p:nvSpPr>
          <p:cNvPr id="8" name="Editable text 6">
            <a:extLst>
              <a:ext uri="{FF2B5EF4-FFF2-40B4-BE49-F238E27FC236}">
                <a16:creationId xmlns:a16="http://schemas.microsoft.com/office/drawing/2014/main" id="{4F4137AE-B2C0-93C9-E8ED-4C6AF858985D}"/>
              </a:ext>
            </a:extLst>
          </p:cNvPr>
          <p:cNvSpPr txBox="1"/>
          <p:nvPr/>
        </p:nvSpPr>
        <p:spPr>
          <a:xfrm>
            <a:off x="267823" y="3192373"/>
            <a:ext cx="3159863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For a feasible arrival, accept if</a:t>
            </a:r>
            <a:endParaRPr lang="en-US"/>
          </a:p>
        </p:txBody>
      </p:sp>
      <p:sp>
        <p:nvSpPr>
          <p:cNvPr id="10" name="Editable text 7">
            <a:extLst>
              <a:ext uri="{FF2B5EF4-FFF2-40B4-BE49-F238E27FC236}">
                <a16:creationId xmlns:a16="http://schemas.microsoft.com/office/drawing/2014/main" id="{1CEAD45C-7292-3449-0AC3-ED1501AE4204}"/>
              </a:ext>
            </a:extLst>
          </p:cNvPr>
          <p:cNvSpPr txBox="1"/>
          <p:nvPr/>
        </p:nvSpPr>
        <p:spPr>
          <a:xfrm>
            <a:off x="6912034" y="1081785"/>
            <a:ext cx="194241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Bellman LP (D0)</a:t>
            </a:r>
            <a:endParaRPr lang="en-US"/>
          </a:p>
        </p:txBody>
      </p:sp>
      <p:sp>
        <p:nvSpPr>
          <p:cNvPr id="12" name="Editable text 8">
            <a:extLst>
              <a:ext uri="{FF2B5EF4-FFF2-40B4-BE49-F238E27FC236}">
                <a16:creationId xmlns:a16="http://schemas.microsoft.com/office/drawing/2014/main" id="{D15F7972-6DEA-50AF-3C74-8DE4D72A7A4E}"/>
              </a:ext>
            </a:extLst>
          </p:cNvPr>
          <p:cNvSpPr txBox="1"/>
          <p:nvPr/>
        </p:nvSpPr>
        <p:spPr>
          <a:xfrm>
            <a:off x="6912036" y="3170706"/>
            <a:ext cx="435153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time-state pair. Complementary slackness</a:t>
            </a:r>
            <a:endParaRPr lang="en-US"/>
          </a:p>
        </p:txBody>
      </p:sp>
      <p:sp>
        <p:nvSpPr>
          <p:cNvPr id="14" name="Editable text 9">
            <a:extLst>
              <a:ext uri="{FF2B5EF4-FFF2-40B4-BE49-F238E27FC236}">
                <a16:creationId xmlns:a16="http://schemas.microsoft.com/office/drawing/2014/main" id="{385862AB-3610-C0F1-0A79-F1AC0567F64C}"/>
              </a:ext>
            </a:extLst>
          </p:cNvPr>
          <p:cNvSpPr txBox="1"/>
          <p:nvPr/>
        </p:nvSpPr>
        <p:spPr>
          <a:xfrm>
            <a:off x="6912036" y="3465303"/>
            <a:ext cx="4679096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identifies optimal actions on occupied states.</a:t>
            </a:r>
            <a:endParaRPr lang="en-US"/>
          </a:p>
        </p:txBody>
      </p:sp>
      <p:sp>
        <p:nvSpPr>
          <p:cNvPr id="16" name="Editable text 10">
            <a:extLst>
              <a:ext uri="{FF2B5EF4-FFF2-40B4-BE49-F238E27FC236}">
                <a16:creationId xmlns:a16="http://schemas.microsoft.com/office/drawing/2014/main" id="{24A1F011-9B3F-00C9-2971-6A1F394E9631}"/>
              </a:ext>
            </a:extLst>
          </p:cNvPr>
          <p:cNvSpPr txBox="1"/>
          <p:nvPr/>
        </p:nvSpPr>
        <p:spPr>
          <a:xfrm>
            <a:off x="267823" y="4084885"/>
            <a:ext cx="11295174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 period; T horizon; r remaining capacity; c initial capacity; Aj class-j resource use; ptj arrival probability; fj fare; vt (r) optimal value; ∆opportunity cost; [x]+ = max(0, x); u</a:t>
            </a:r>
            <a:endParaRPr lang="en-US"/>
          </a:p>
        </p:txBody>
      </p:sp>
      <p:sp>
        <p:nvSpPr>
          <p:cNvPr id="18" name="Editable text 11">
            <a:extLst>
              <a:ext uri="{FF2B5EF4-FFF2-40B4-BE49-F238E27FC236}">
                <a16:creationId xmlns:a16="http://schemas.microsoft.com/office/drawing/2014/main" id="{32E2B4AB-BD89-DB52-A26E-779B87701733}"/>
              </a:ext>
            </a:extLst>
          </p:cNvPr>
          <p:cNvSpPr txBox="1"/>
          <p:nvPr/>
        </p:nvSpPr>
        <p:spPr>
          <a:xfrm>
            <a:off x="267823" y="4250630"/>
            <a:ext cx="4642191" cy="2366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feasible action in U(r); qt expected reward; Rt+1 next state; E expectation.</a:t>
            </a:r>
            <a:endParaRPr lang="en-US"/>
          </a:p>
        </p:txBody>
      </p:sp>
      <p:sp>
        <p:nvSpPr>
          <p:cNvPr id="20" name="Editable text 12">
            <a:extLst>
              <a:ext uri="{FF2B5EF4-FFF2-40B4-BE49-F238E27FC236}">
                <a16:creationId xmlns:a16="http://schemas.microsoft.com/office/drawing/2014/main" id="{7A79E3FC-D642-066F-3083-1A8824942068}"/>
              </a:ext>
            </a:extLst>
          </p:cNvPr>
          <p:cNvSpPr txBox="1"/>
          <p:nvPr/>
        </p:nvSpPr>
        <p:spPr>
          <a:xfrm>
            <a:off x="267823" y="5406146"/>
            <a:ext cx="6306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p. 649, eqs. (1)–(3); occupancy dual independently derived in backup slide A2.</a:t>
            </a:r>
            <a:endParaRPr lang="en-US"/>
          </a:p>
        </p:txBody>
      </p:sp>
      <p:pic>
        <p:nvPicPr>
          <p:cNvPr id="22" name="Equation 16">
            <a:extLst>
              <a:ext uri="{FF2B5EF4-FFF2-40B4-BE49-F238E27FC236}">
                <a16:creationId xmlns:a16="http://schemas.microsoft.com/office/drawing/2014/main" id="{BD309EC7-E428-9A6A-8293-274BB54AB3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4382" y="1352806"/>
            <a:ext cx="5807438" cy="1701541"/>
          </a:xfrm>
          <a:prstGeom prst="rect">
            <a:avLst/>
          </a:prstGeom>
        </p:spPr>
      </p:pic>
      <p:pic>
        <p:nvPicPr>
          <p:cNvPr id="24" name="Equation 17">
            <a:extLst>
              <a:ext uri="{FF2B5EF4-FFF2-40B4-BE49-F238E27FC236}">
                <a16:creationId xmlns:a16="http://schemas.microsoft.com/office/drawing/2014/main" id="{84AB08F5-3E94-1608-57A8-3546C49AADF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03755" y="1362940"/>
            <a:ext cx="5634319" cy="1767669"/>
          </a:xfrm>
          <a:prstGeom prst="rect">
            <a:avLst/>
          </a:prstGeom>
        </p:spPr>
      </p:pic>
      <p:pic>
        <p:nvPicPr>
          <p:cNvPr id="26" name="Equation 18">
            <a:extLst>
              <a:ext uri="{FF2B5EF4-FFF2-40B4-BE49-F238E27FC236}">
                <a16:creationId xmlns:a16="http://schemas.microsoft.com/office/drawing/2014/main" id="{7339F35B-D184-D99C-8D6F-F106BFA22A6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626342" y="3615586"/>
            <a:ext cx="3897844" cy="4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68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0325-BED9-E8E9-C113-E16A39DB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latin typeface="Arial"/>
              </a:rPr>
              <a:t>Fluid LP and affine approximate LP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273F5-B585-E08D-86E4-513465022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31C6D-030C-4098-A81A-3EAF4FA34231}" type="slidenum">
              <a:rPr lang="en-US" smtClean="0"/>
              <a:pPr/>
              <a:t>6</a:t>
            </a:fld>
            <a:endParaRPr lang="en-US" sz="1200" dirty="0"/>
          </a:p>
        </p:txBody>
      </p:sp>
      <p:sp>
        <p:nvSpPr>
          <p:cNvPr id="6" name="Editable text 5">
            <a:extLst>
              <a:ext uri="{FF2B5EF4-FFF2-40B4-BE49-F238E27FC236}">
                <a16:creationId xmlns:a16="http://schemas.microsoft.com/office/drawing/2014/main" id="{624BC6AD-8EAB-73F6-53A7-4AD91DCC7E4A}"/>
              </a:ext>
            </a:extLst>
          </p:cNvPr>
          <p:cNvSpPr txBox="1"/>
          <p:nvPr/>
        </p:nvSpPr>
        <p:spPr>
          <a:xfrm>
            <a:off x="267823" y="1071651"/>
            <a:ext cx="3825903" cy="2820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Fluid LP: expected acceptances Yj</a:t>
            </a:r>
            <a:endParaRPr lang="en-US"/>
          </a:p>
        </p:txBody>
      </p:sp>
      <p:sp>
        <p:nvSpPr>
          <p:cNvPr id="8" name="Editable text 6">
            <a:extLst>
              <a:ext uri="{FF2B5EF4-FFF2-40B4-BE49-F238E27FC236}">
                <a16:creationId xmlns:a16="http://schemas.microsoft.com/office/drawing/2014/main" id="{08E04B87-6201-F3AA-A02C-6AE9B15358D6}"/>
              </a:ext>
            </a:extLst>
          </p:cNvPr>
          <p:cNvSpPr txBox="1"/>
          <p:nvPr/>
        </p:nvSpPr>
        <p:spPr>
          <a:xfrm>
            <a:off x="267822" y="3497588"/>
            <a:ext cx="4264271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This solve aggregates demand over time.</a:t>
            </a:r>
            <a:endParaRPr lang="en-US"/>
          </a:p>
        </p:txBody>
      </p:sp>
      <p:sp>
        <p:nvSpPr>
          <p:cNvPr id="10" name="Editable text 7">
            <a:extLst>
              <a:ext uri="{FF2B5EF4-FFF2-40B4-BE49-F238E27FC236}">
                <a16:creationId xmlns:a16="http://schemas.microsoft.com/office/drawing/2014/main" id="{256A8869-B11B-E68C-89EA-A3AAADCFEF17}"/>
              </a:ext>
            </a:extLst>
          </p:cNvPr>
          <p:cNvSpPr txBox="1"/>
          <p:nvPr/>
        </p:nvSpPr>
        <p:spPr>
          <a:xfrm>
            <a:off x="267823" y="3963876"/>
            <a:ext cx="11482219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Within one affine solve, bid prices vary by period. Re-solving can update the trajectory after capacity changes.</a:t>
            </a:r>
            <a:endParaRPr lang="en-US"/>
          </a:p>
        </p:txBody>
      </p:sp>
      <p:sp>
        <p:nvSpPr>
          <p:cNvPr id="12" name="Editable text 8">
            <a:extLst>
              <a:ext uri="{FF2B5EF4-FFF2-40B4-BE49-F238E27FC236}">
                <a16:creationId xmlns:a16="http://schemas.microsoft.com/office/drawing/2014/main" id="{A705DE68-ECB0-2586-A55A-909F8660DBD8}"/>
              </a:ext>
            </a:extLst>
          </p:cNvPr>
          <p:cNvSpPr txBox="1"/>
          <p:nvPr/>
        </p:nvSpPr>
        <p:spPr>
          <a:xfrm>
            <a:off x="267823" y="4307383"/>
            <a:ext cx="11673621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Yj expected acceptances; A = (aij ) resource-use matrix; c initial capacity; fj fare; ptj arrival probability; λi fluid resource dual; ˆvt affine value; θt intercept; bt resource-price vector; r</a:t>
            </a:r>
            <a:endParaRPr lang="en-US"/>
          </a:p>
        </p:txBody>
      </p:sp>
      <p:sp>
        <p:nvSpPr>
          <p:cNvPr id="14" name="Editable text 9">
            <a:extLst>
              <a:ext uri="{FF2B5EF4-FFF2-40B4-BE49-F238E27FC236}">
                <a16:creationId xmlns:a16="http://schemas.microsoft.com/office/drawing/2014/main" id="{D678F364-535D-31D5-0B41-9F909BFE9BF6}"/>
              </a:ext>
            </a:extLst>
          </p:cNvPr>
          <p:cNvSpPr txBox="1"/>
          <p:nvPr/>
        </p:nvSpPr>
        <p:spPr>
          <a:xfrm>
            <a:off x="267823" y="4494936"/>
            <a:ext cx="2962994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remaining capacity; uj accept indicator; t period.</a:t>
            </a:r>
            <a:endParaRPr lang="en-US"/>
          </a:p>
        </p:txBody>
      </p:sp>
      <p:sp>
        <p:nvSpPr>
          <p:cNvPr id="16" name="Editable text 10">
            <a:extLst>
              <a:ext uri="{FF2B5EF4-FFF2-40B4-BE49-F238E27FC236}">
                <a16:creationId xmlns:a16="http://schemas.microsoft.com/office/drawing/2014/main" id="{F81B6F7E-E5BD-F282-8D3E-50F983FA4E90}"/>
              </a:ext>
            </a:extLst>
          </p:cNvPr>
          <p:cNvSpPr txBox="1"/>
          <p:nvPr/>
        </p:nvSpPr>
        <p:spPr>
          <a:xfrm>
            <a:off x="267823" y="5530822"/>
            <a:ext cx="4520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p. 650, eqs. (4)–(6), and p. 652, eqs. (14)–(17).</a:t>
            </a:r>
            <a:endParaRPr lang="en-US"/>
          </a:p>
        </p:txBody>
      </p:sp>
      <p:pic>
        <p:nvPicPr>
          <p:cNvPr id="18" name="Equation 14">
            <a:extLst>
              <a:ext uri="{FF2B5EF4-FFF2-40B4-BE49-F238E27FC236}">
                <a16:creationId xmlns:a16="http://schemas.microsoft.com/office/drawing/2014/main" id="{D87C8BCA-9C0B-EAB9-CC42-85D6B1FD9B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1411288"/>
            <a:ext cx="5404213" cy="1860935"/>
          </a:xfrm>
          <a:prstGeom prst="rect">
            <a:avLst/>
          </a:prstGeom>
        </p:spPr>
      </p:pic>
      <p:pic>
        <p:nvPicPr>
          <p:cNvPr id="20" name="Equation 15">
            <a:extLst>
              <a:ext uri="{FF2B5EF4-FFF2-40B4-BE49-F238E27FC236}">
                <a16:creationId xmlns:a16="http://schemas.microsoft.com/office/drawing/2014/main" id="{0D4593CD-2230-DED7-E380-31F655E156A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46766" y="1058210"/>
            <a:ext cx="6075261" cy="2198691"/>
          </a:xfrm>
          <a:prstGeom prst="rect">
            <a:avLst/>
          </a:prstGeom>
        </p:spPr>
      </p:pic>
      <p:pic>
        <p:nvPicPr>
          <p:cNvPr id="22" name="Equation 16">
            <a:extLst>
              <a:ext uri="{FF2B5EF4-FFF2-40B4-BE49-F238E27FC236}">
                <a16:creationId xmlns:a16="http://schemas.microsoft.com/office/drawing/2014/main" id="{C145946C-45A3-6A5E-8EE5-A54B556CEF5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846766" y="3427414"/>
            <a:ext cx="6075261" cy="48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94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751B-FE02-7D37-16E3-4A9B1A65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latin typeface="Arial"/>
              </a:rPr>
              <a:t>Two upper-bound arguments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CD9A5-0BDD-22DA-2171-90BAC70F1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31C6D-030C-4098-A81A-3EAF4FA34231}" type="slidenum">
              <a:rPr lang="en-US" smtClean="0"/>
              <a:pPr/>
              <a:t>7</a:t>
            </a:fld>
            <a:endParaRPr lang="en-US" sz="1200" dirty="0"/>
          </a:p>
        </p:txBody>
      </p:sp>
      <p:sp>
        <p:nvSpPr>
          <p:cNvPr id="8" name="Editable text 6">
            <a:extLst>
              <a:ext uri="{FF2B5EF4-FFF2-40B4-BE49-F238E27FC236}">
                <a16:creationId xmlns:a16="http://schemas.microsoft.com/office/drawing/2014/main" id="{0B7E8612-877B-714A-F488-41488F746D32}"/>
              </a:ext>
            </a:extLst>
          </p:cNvPr>
          <p:cNvSpPr txBox="1"/>
          <p:nvPr/>
        </p:nvSpPr>
        <p:spPr>
          <a:xfrm>
            <a:off x="267822" y="4854776"/>
            <a:ext cx="11501265" cy="2614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zLP fluid upper bound; zP1 affine-LP upper bound; v1(c) exact initial MDP value; Xt,r,u P1 state-action weight; Yj expected class-j acceptance; ptj arrival probability; uj accept</a:t>
            </a:r>
            <a:endParaRPr lang="en-US"/>
          </a:p>
        </p:txBody>
      </p:sp>
      <p:sp>
        <p:nvSpPr>
          <p:cNvPr id="10" name="Editable text 7">
            <a:extLst>
              <a:ext uri="{FF2B5EF4-FFF2-40B4-BE49-F238E27FC236}">
                <a16:creationId xmlns:a16="http://schemas.microsoft.com/office/drawing/2014/main" id="{E64B61E3-E4F7-3D58-A3A7-2A5A4C3B51FE}"/>
              </a:ext>
            </a:extLst>
          </p:cNvPr>
          <p:cNvSpPr txBox="1"/>
          <p:nvPr/>
        </p:nvSpPr>
        <p:spPr>
          <a:xfrm>
            <a:off x="267822" y="5096362"/>
            <a:ext cx="4390024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indicator; A resource-use matrix; bt,i resource-i slope; ci initial capacity.</a:t>
            </a:r>
            <a:endParaRPr lang="en-US"/>
          </a:p>
        </p:txBody>
      </p:sp>
      <p:sp>
        <p:nvSpPr>
          <p:cNvPr id="12" name="Editable text 8">
            <a:extLst>
              <a:ext uri="{FF2B5EF4-FFF2-40B4-BE49-F238E27FC236}">
                <a16:creationId xmlns:a16="http://schemas.microsoft.com/office/drawing/2014/main" id="{26751742-9719-BDC9-B17A-5586649A37FB}"/>
              </a:ext>
            </a:extLst>
          </p:cNvPr>
          <p:cNvSpPr txBox="1"/>
          <p:nvPr/>
        </p:nvSpPr>
        <p:spPr>
          <a:xfrm>
            <a:off x="267821" y="5831549"/>
            <a:ext cx="44747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652–655, Theorems 1–2 and eqs. (22)–(29).</a:t>
            </a:r>
            <a:endParaRPr lang="en-US"/>
          </a:p>
        </p:txBody>
      </p:sp>
      <p:sp>
        <p:nvSpPr>
          <p:cNvPr id="14" name="Editable text 12">
            <a:extLst>
              <a:ext uri="{FF2B5EF4-FFF2-40B4-BE49-F238E27FC236}">
                <a16:creationId xmlns:a16="http://schemas.microsoft.com/office/drawing/2014/main" id="{75B90B33-7C75-5796-3CD5-14E51DC212D2}"/>
              </a:ext>
            </a:extLst>
          </p:cNvPr>
          <p:cNvSpPr txBox="1"/>
          <p:nvPr/>
        </p:nvSpPr>
        <p:spPr>
          <a:xfrm>
            <a:off x="806451" y="1908599"/>
            <a:ext cx="11133886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>1. Affine LP versus exact MDP. Every feasible D1 function satisfies the Bellman inequalities.</a:t>
            </a:r>
            <a:endParaRPr lang="en-US"/>
          </a:p>
        </p:txBody>
      </p:sp>
      <p:sp>
        <p:nvSpPr>
          <p:cNvPr id="16" name="Editable text 13">
            <a:extLst>
              <a:ext uri="{FF2B5EF4-FFF2-40B4-BE49-F238E27FC236}">
                <a16:creationId xmlns:a16="http://schemas.microsoft.com/office/drawing/2014/main" id="{9E8974DD-2E56-F280-6B85-B11A716151AF}"/>
              </a:ext>
            </a:extLst>
          </p:cNvPr>
          <p:cNvSpPr txBox="1"/>
          <p:nvPr/>
        </p:nvSpPr>
        <p:spPr>
          <a:xfrm>
            <a:off x="806451" y="2204298"/>
            <a:ext cx="1113388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>Backward induction bounds the exact value above. Restricting the value family cannot lower the minimum.</a:t>
            </a:r>
            <a:endParaRPr lang="en-US"/>
          </a:p>
        </p:txBody>
      </p:sp>
      <p:sp>
        <p:nvSpPr>
          <p:cNvPr id="18" name="Editable text 14">
            <a:extLst>
              <a:ext uri="{FF2B5EF4-FFF2-40B4-BE49-F238E27FC236}">
                <a16:creationId xmlns:a16="http://schemas.microsoft.com/office/drawing/2014/main" id="{D18834D1-2667-34CC-B412-1A09862728E1}"/>
              </a:ext>
            </a:extLst>
          </p:cNvPr>
          <p:cNvSpPr txBox="1"/>
          <p:nvPr/>
        </p:nvSpPr>
        <p:spPr>
          <a:xfrm>
            <a:off x="806451" y="2822576"/>
            <a:ext cx="1113388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>2. Fluid LP versus affine LP. Map feasible P1 weights X to expected class acceptances Y.</a:t>
            </a:r>
            <a:endParaRPr lang="en-US"/>
          </a:p>
        </p:txBody>
      </p:sp>
      <p:sp>
        <p:nvSpPr>
          <p:cNvPr id="20" name="Editable text 15">
            <a:extLst>
              <a:ext uri="{FF2B5EF4-FFF2-40B4-BE49-F238E27FC236}">
                <a16:creationId xmlns:a16="http://schemas.microsoft.com/office/drawing/2014/main" id="{8E14D643-9082-EC75-7435-D9B3A6CE3948}"/>
              </a:ext>
            </a:extLst>
          </p:cNvPr>
          <p:cNvSpPr txBox="1"/>
          <p:nvPr/>
        </p:nvSpPr>
        <p:spPr>
          <a:xfrm>
            <a:off x="806451" y="3145156"/>
            <a:ext cx="1113388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>P1's moment equations give each class acceptance ≤ expected arrivals and AY ≤ c. The objectives agree.</a:t>
            </a:r>
            <a:endParaRPr lang="en-US"/>
          </a:p>
        </p:txBody>
      </p:sp>
      <p:sp>
        <p:nvSpPr>
          <p:cNvPr id="22" name="Editable text 16">
            <a:extLst>
              <a:ext uri="{FF2B5EF4-FFF2-40B4-BE49-F238E27FC236}">
                <a16:creationId xmlns:a16="http://schemas.microsoft.com/office/drawing/2014/main" id="{F9396BD5-E8CD-02A6-9928-7671CDC11E84}"/>
              </a:ext>
            </a:extLst>
          </p:cNvPr>
          <p:cNvSpPr txBox="1"/>
          <p:nvPr/>
        </p:nvSpPr>
        <p:spPr>
          <a:xfrm>
            <a:off x="268817" y="3790317"/>
            <a:ext cx="1167152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>Structural result: if every c_i &gt; 0 and every p_tj &gt; 0, a nonincreasing optimal price trajectory exists.</a:t>
            </a:r>
            <a:endParaRPr lang="en-US"/>
          </a:p>
        </p:txBody>
      </p:sp>
      <p:sp>
        <p:nvSpPr>
          <p:cNvPr id="24" name="Editable text 17">
            <a:extLst>
              <a:ext uri="{FF2B5EF4-FFF2-40B4-BE49-F238E27FC236}">
                <a16:creationId xmlns:a16="http://schemas.microsoft.com/office/drawing/2014/main" id="{61D2436A-C8DB-1838-ACCE-E89930FAAAEC}"/>
              </a:ext>
            </a:extLst>
          </p:cNvPr>
          <p:cNvSpPr txBox="1"/>
          <p:nvPr/>
        </p:nvSpPr>
        <p:spPr>
          <a:xfrm>
            <a:off x="268817" y="4112897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>An arbitrary optimal solver output need not be monotone.</a:t>
            </a:r>
            <a:endParaRPr lang="en-US"/>
          </a:p>
        </p:txBody>
      </p:sp>
      <p:pic>
        <p:nvPicPr>
          <p:cNvPr id="26" name="Equation 18">
            <a:extLst>
              <a:ext uri="{FF2B5EF4-FFF2-40B4-BE49-F238E27FC236}">
                <a16:creationId xmlns:a16="http://schemas.microsoft.com/office/drawing/2014/main" id="{6E589194-7EB1-5A22-AC3D-FD90E1B06F1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27415" y="954300"/>
            <a:ext cx="5295692" cy="833332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6FE811EA-065B-DA5D-E452-D30D5A045993}"/>
              </a:ext>
            </a:extLst>
          </p:cNvPr>
          <p:cNvGrpSpPr/>
          <p:nvPr/>
        </p:nvGrpSpPr>
        <p:grpSpPr>
          <a:xfrm>
            <a:off x="267821" y="252844"/>
            <a:ext cx="523875" cy="466725"/>
            <a:chOff x="6029325" y="2962275"/>
            <a:chExt cx="523875" cy="466725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4B2511E5-5368-5BAA-765A-3F03B7B0DC16}"/>
                </a:ext>
              </a:extLst>
            </p:cNvPr>
            <p:cNvSpPr/>
            <p:nvPr/>
          </p:nvSpPr>
          <p:spPr>
            <a:xfrm>
              <a:off x="6029325" y="2962275"/>
              <a:ext cx="523875" cy="466725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CAAD1CA-D5B5-D47A-9C48-F85EF0BD8778}"/>
                </a:ext>
              </a:extLst>
            </p:cNvPr>
            <p:cNvSpPr txBox="1"/>
            <p:nvPr/>
          </p:nvSpPr>
          <p:spPr>
            <a:xfrm>
              <a:off x="6138862" y="3034387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2871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2BD7-BC4C-B7E0-A885-C6175BC46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latin typeface="Arial"/>
              </a:rPr>
              <a:t>Published example and planned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6839F-4833-FE79-72DF-74FCCB792B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31C6D-030C-4098-A81A-3EAF4FA34231}" type="slidenum">
              <a:rPr lang="en-US" smtClean="0"/>
              <a:pPr/>
              <a:t>8</a:t>
            </a:fld>
            <a:endParaRPr lang="en-US" sz="1200" dirty="0"/>
          </a:p>
        </p:txBody>
      </p:sp>
      <p:sp>
        <p:nvSpPr>
          <p:cNvPr id="6" name="Editable rectangle 2">
            <a:extLst>
              <a:ext uri="{FF2B5EF4-FFF2-40B4-BE49-F238E27FC236}">
                <a16:creationId xmlns:a16="http://schemas.microsoft.com/office/drawing/2014/main" id="{B4179739-A034-187A-4F3C-4971E60DAA6F}"/>
              </a:ext>
            </a:extLst>
          </p:cNvPr>
          <p:cNvSpPr/>
          <p:nvPr/>
        </p:nvSpPr>
        <p:spPr>
          <a:xfrm>
            <a:off x="2702416" y="3510451"/>
            <a:ext cx="6787195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Editable text 6">
            <a:extLst>
              <a:ext uri="{FF2B5EF4-FFF2-40B4-BE49-F238E27FC236}">
                <a16:creationId xmlns:a16="http://schemas.microsoft.com/office/drawing/2014/main" id="{3B00BBCD-D9EC-A36B-411E-A04DAFCB2F79}"/>
              </a:ext>
            </a:extLst>
          </p:cNvPr>
          <p:cNvSpPr txBox="1"/>
          <p:nvPr/>
        </p:nvSpPr>
        <p:spPr>
          <a:xfrm>
            <a:off x="267822" y="1011382"/>
            <a:ext cx="8845309" cy="2995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Example 1: one resource, one seat, one class, f = a = 1, T = 2, and p1 = p2 = 0.5.</a:t>
            </a:r>
            <a:endParaRPr lang="en-US"/>
          </a:p>
        </p:txBody>
      </p:sp>
      <p:sp>
        <p:nvSpPr>
          <p:cNvPr id="10" name="Editable text 7">
            <a:extLst>
              <a:ext uri="{FF2B5EF4-FFF2-40B4-BE49-F238E27FC236}">
                <a16:creationId xmlns:a16="http://schemas.microsoft.com/office/drawing/2014/main" id="{268032E7-8BFB-A587-355C-FEC2650E2965}"/>
              </a:ext>
            </a:extLst>
          </p:cNvPr>
          <p:cNvSpPr txBox="1"/>
          <p:nvPr/>
        </p:nvSpPr>
        <p:spPr>
          <a:xfrm>
            <a:off x="267822" y="3751835"/>
            <a:ext cx="1148222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Verification gate: independently compare exact DP, exact LP primal/dual, fluid LP, and full affine LP on this</a:t>
            </a:r>
            <a:endParaRPr lang="en-US"/>
          </a:p>
        </p:txBody>
      </p:sp>
      <p:sp>
        <p:nvSpPr>
          <p:cNvPr id="12" name="Editable text 8">
            <a:extLst>
              <a:ext uri="{FF2B5EF4-FFF2-40B4-BE49-F238E27FC236}">
                <a16:creationId xmlns:a16="http://schemas.microsoft.com/office/drawing/2014/main" id="{FAA5AD3F-2D38-E91A-D6A4-58B37A8DEF9B}"/>
              </a:ext>
            </a:extLst>
          </p:cNvPr>
          <p:cNvSpPr txBox="1"/>
          <p:nvPr/>
        </p:nvSpPr>
        <p:spPr>
          <a:xfrm>
            <a:off x="267822" y="4046431"/>
            <a:ext cx="11319765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dirty="0">
                <a:solidFill>
                  <a:srgbClr val="000000"/>
                </a:solidFill>
                <a:latin typeface="Arial"/>
              </a:rPr>
              <a:t>case and a two-resource network. Test zero demand, zero capacity, terminal decisions, and infeasible arrivals.</a:t>
            </a:r>
            <a:endParaRPr lang="en-US" dirty="0"/>
          </a:p>
        </p:txBody>
      </p:sp>
      <p:sp>
        <p:nvSpPr>
          <p:cNvPr id="14" name="Editable text 9">
            <a:extLst>
              <a:ext uri="{FF2B5EF4-FFF2-40B4-BE49-F238E27FC236}">
                <a16:creationId xmlns:a16="http://schemas.microsoft.com/office/drawing/2014/main" id="{48A6B743-BD5E-04AA-93CB-446690B88BCD}"/>
              </a:ext>
            </a:extLst>
          </p:cNvPr>
          <p:cNvSpPr txBox="1"/>
          <p:nvPr/>
        </p:nvSpPr>
        <p:spPr>
          <a:xfrm>
            <a:off x="267822" y="4389912"/>
            <a:ext cx="10858336" cy="195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dirty="0">
                <a:solidFill>
                  <a:srgbClr val="5A666F"/>
                </a:solidFill>
                <a:latin typeface="Arial"/>
              </a:rPr>
              <a:t>Variables: T horizon; f fare; a resource use; pt arrival probability; </a:t>
            </a:r>
            <a:r>
              <a:rPr lang="en-US" sz="1054" dirty="0" err="1">
                <a:solidFill>
                  <a:srgbClr val="5A666F"/>
                </a:solidFill>
                <a:latin typeface="Arial"/>
              </a:rPr>
              <a:t>vt</a:t>
            </a:r>
            <a:r>
              <a:rPr lang="en-US" sz="1054" dirty="0">
                <a:solidFill>
                  <a:srgbClr val="5A666F"/>
                </a:solidFill>
                <a:latin typeface="Arial"/>
              </a:rPr>
              <a:t> (r) exact value at period t with remaining capacity r; P1 affine approximation; fluid LP deterministic relaxation.</a:t>
            </a:r>
            <a:endParaRPr lang="en-US" dirty="0"/>
          </a:p>
        </p:txBody>
      </p:sp>
      <p:sp>
        <p:nvSpPr>
          <p:cNvPr id="16" name="Editable text 10">
            <a:extLst>
              <a:ext uri="{FF2B5EF4-FFF2-40B4-BE49-F238E27FC236}">
                <a16:creationId xmlns:a16="http://schemas.microsoft.com/office/drawing/2014/main" id="{36C2AAC1-38D7-DC9F-4817-1AF053E7F6B8}"/>
              </a:ext>
            </a:extLst>
          </p:cNvPr>
          <p:cNvSpPr txBox="1"/>
          <p:nvPr/>
        </p:nvSpPr>
        <p:spPr>
          <a:xfrm>
            <a:off x="267822" y="5461173"/>
            <a:ext cx="541797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p. 653, Example 1. Project-generated solver results are pending.</a:t>
            </a:r>
            <a:endParaRPr lang="en-US"/>
          </a:p>
        </p:txBody>
      </p:sp>
      <p:graphicFrame>
        <p:nvGraphicFramePr>
          <p:cNvPr id="18" name="Editable table 14">
            <a:extLst>
              <a:ext uri="{FF2B5EF4-FFF2-40B4-BE49-F238E27FC236}">
                <a16:creationId xmlns:a16="http://schemas.microsoft.com/office/drawing/2014/main" id="{37128E02-38F3-D4CC-9321-E09CA389A7FC}"/>
              </a:ext>
            </a:extLst>
          </p:cNvPr>
          <p:cNvGraphicFramePr/>
          <p:nvPr/>
        </p:nvGraphicFramePr>
        <p:xfrm>
          <a:off x="2688168" y="2043008"/>
          <a:ext cx="6801066" cy="1451611"/>
        </p:xfrm>
        <a:graphic>
          <a:graphicData uri="http://schemas.openxmlformats.org/drawingml/2006/table">
            <a:tbl>
              <a:tblPr firstRow="1"/>
              <a:tblGrid>
                <a:gridCol w="1768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6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903">
                <a:tc>
                  <a:txBody>
                    <a:bodyPr/>
                    <a:lstStyle/>
                    <a:p>
                      <a:r>
                        <a:rPr lang="en-US" sz="1503" b="1">
                          <a:solidFill>
                            <a:srgbClr val="000000"/>
                          </a:solidFill>
                          <a:latin typeface="Arial"/>
                        </a:rPr>
                        <a:t>Formulation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 b="1">
                          <a:solidFill>
                            <a:srgbClr val="000000"/>
                          </a:solidFill>
                          <a:latin typeface="Arial"/>
                        </a:rPr>
                        <a:t>Value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 b="1">
                          <a:solidFill>
                            <a:srgbClr val="000000"/>
                          </a:solidFill>
                          <a:latin typeface="Arial"/>
                        </a:rPr>
                        <a:t>Evidence status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03"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Exact MDP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0.75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Hand calculation; published example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903"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Affine LP (P1)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0.75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Published example; reproduction 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902"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Fluid LP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1.00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Hand calculation; published example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0" name="Equation 15">
            <a:extLst>
              <a:ext uri="{FF2B5EF4-FFF2-40B4-BE49-F238E27FC236}">
                <a16:creationId xmlns:a16="http://schemas.microsoft.com/office/drawing/2014/main" id="{335B9E6D-F5E1-AAF4-520F-AE31A9C4BE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05911" y="1330643"/>
            <a:ext cx="7338700" cy="61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2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FEDA-73A7-C863-5689-69792E41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latin typeface="Arial"/>
              </a:rPr>
              <a:t>Column generation and its certificate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4E4FC-9ADB-3113-A6EF-038CAFBF7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31C6D-030C-4098-A81A-3EAF4FA34231}" type="slidenum">
              <a:rPr lang="en-US" smtClean="0"/>
              <a:pPr/>
              <a:t>9</a:t>
            </a:fld>
            <a:endParaRPr lang="en-US" sz="1200" dirty="0"/>
          </a:p>
        </p:txBody>
      </p:sp>
      <p:sp>
        <p:nvSpPr>
          <p:cNvPr id="6" name="Editable text 5">
            <a:extLst>
              <a:ext uri="{FF2B5EF4-FFF2-40B4-BE49-F238E27FC236}">
                <a16:creationId xmlns:a16="http://schemas.microsoft.com/office/drawing/2014/main" id="{13FB27FE-36DD-FF44-A8F6-C34AADD631A9}"/>
              </a:ext>
            </a:extLst>
          </p:cNvPr>
          <p:cNvSpPr txBox="1"/>
          <p:nvPr/>
        </p:nvSpPr>
        <p:spPr>
          <a:xfrm>
            <a:off x="267822" y="1011382"/>
            <a:ext cx="10842742" cy="2820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Primary: start (P1) with feasible no-acceptance columns. Solve the restricted primary and obtain θt, bt.</a:t>
            </a:r>
            <a:endParaRPr lang="en-US"/>
          </a:p>
        </p:txBody>
      </p:sp>
      <p:sp>
        <p:nvSpPr>
          <p:cNvPr id="8" name="Editable text 6">
            <a:extLst>
              <a:ext uri="{FF2B5EF4-FFF2-40B4-BE49-F238E27FC236}">
                <a16:creationId xmlns:a16="http://schemas.microsoft.com/office/drawing/2014/main" id="{60A1705E-99DF-C590-CF50-B1E723E308F2}"/>
              </a:ext>
            </a:extLst>
          </p:cNvPr>
          <p:cNvSpPr txBox="1"/>
          <p:nvPr/>
        </p:nvSpPr>
        <p:spPr>
          <a:xfrm>
            <a:off x="267824" y="2850385"/>
            <a:ext cx="1141907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dirty="0">
                <a:solidFill>
                  <a:srgbClr val="000000"/>
                </a:solidFill>
                <a:latin typeface="Arial"/>
              </a:rPr>
              <a:t>Add a column when its reduced profit is positive, then re-solve. Adelman formulates the period problem as an</a:t>
            </a:r>
            <a:endParaRPr lang="en-US" dirty="0"/>
          </a:p>
        </p:txBody>
      </p:sp>
      <p:sp>
        <p:nvSpPr>
          <p:cNvPr id="10" name="Editable text 7">
            <a:extLst>
              <a:ext uri="{FF2B5EF4-FFF2-40B4-BE49-F238E27FC236}">
                <a16:creationId xmlns:a16="http://schemas.microsoft.com/office/drawing/2014/main" id="{55397559-80AF-C277-C123-9C1F925518E1}"/>
              </a:ext>
            </a:extLst>
          </p:cNvPr>
          <p:cNvSpPr txBox="1"/>
          <p:nvPr/>
        </p:nvSpPr>
        <p:spPr>
          <a:xfrm>
            <a:off x="267824" y="3144955"/>
            <a:ext cx="1742354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integer program.</a:t>
            </a:r>
            <a:endParaRPr lang="en-US"/>
          </a:p>
        </p:txBody>
      </p:sp>
      <p:sp>
        <p:nvSpPr>
          <p:cNvPr id="12" name="Editable text 8">
            <a:extLst>
              <a:ext uri="{FF2B5EF4-FFF2-40B4-BE49-F238E27FC236}">
                <a16:creationId xmlns:a16="http://schemas.microsoft.com/office/drawing/2014/main" id="{78E339F6-E4B7-D98A-4B45-A84DB0B45F62}"/>
              </a:ext>
            </a:extLst>
          </p:cNvPr>
          <p:cNvSpPr txBox="1"/>
          <p:nvPr/>
        </p:nvSpPr>
        <p:spPr>
          <a:xfrm>
            <a:off x="267824" y="3600249"/>
            <a:ext cx="403987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Stopping certificate (Proposition 3):</a:t>
            </a:r>
            <a:endParaRPr lang="en-US"/>
          </a:p>
        </p:txBody>
      </p:sp>
      <p:sp>
        <p:nvSpPr>
          <p:cNvPr id="14" name="Editable text 9">
            <a:extLst>
              <a:ext uri="{FF2B5EF4-FFF2-40B4-BE49-F238E27FC236}">
                <a16:creationId xmlns:a16="http://schemas.microsoft.com/office/drawing/2014/main" id="{23A9DAB8-AAF0-9CDA-3E81-35FE6F231EC4}"/>
              </a:ext>
            </a:extLst>
          </p:cNvPr>
          <p:cNvSpPr txBox="1"/>
          <p:nvPr/>
        </p:nvSpPr>
        <p:spPr>
          <a:xfrm>
            <a:off x="267823" y="5144629"/>
            <a:ext cx="6397912" cy="30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ZΛ alone does not certify an upper bound on the exact MDP.</a:t>
            </a:r>
            <a:endParaRPr lang="en-US"/>
          </a:p>
        </p:txBody>
      </p:sp>
      <p:sp>
        <p:nvSpPr>
          <p:cNvPr id="16" name="Editable text 10">
            <a:extLst>
              <a:ext uri="{FF2B5EF4-FFF2-40B4-BE49-F238E27FC236}">
                <a16:creationId xmlns:a16="http://schemas.microsoft.com/office/drawing/2014/main" id="{EE7EA1F6-B608-3566-505B-52347FCA03B0}"/>
              </a:ext>
            </a:extLst>
          </p:cNvPr>
          <p:cNvSpPr txBox="1"/>
          <p:nvPr/>
        </p:nvSpPr>
        <p:spPr>
          <a:xfrm>
            <a:off x="267823" y="5510438"/>
            <a:ext cx="10068322" cy="325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endParaRPr lang="en-US" dirty="0"/>
          </a:p>
        </p:txBody>
      </p:sp>
      <p:sp>
        <p:nvSpPr>
          <p:cNvPr id="18" name="Editable text 11">
            <a:extLst>
              <a:ext uri="{FF2B5EF4-FFF2-40B4-BE49-F238E27FC236}">
                <a16:creationId xmlns:a16="http://schemas.microsoft.com/office/drawing/2014/main" id="{55344285-47C0-049A-E359-381A64C3CF7C}"/>
              </a:ext>
            </a:extLst>
          </p:cNvPr>
          <p:cNvSpPr txBox="1"/>
          <p:nvPr/>
        </p:nvSpPr>
        <p:spPr>
          <a:xfrm>
            <a:off x="267823" y="5910808"/>
            <a:ext cx="8025831" cy="2631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t, T period/horizon; (r, u) state/action; ptj , fj , Aj arrival probability, fare, resource use; bt , θt slopes/intercept; ρt , ρ∗</a:t>
            </a:r>
            <a:endParaRPr lang="en-US"/>
          </a:p>
        </p:txBody>
      </p:sp>
      <p:sp>
        <p:nvSpPr>
          <p:cNvPr id="20" name="Editable text 12">
            <a:extLst>
              <a:ext uri="{FF2B5EF4-FFF2-40B4-BE49-F238E27FC236}">
                <a16:creationId xmlns:a16="http://schemas.microsoft.com/office/drawing/2014/main" id="{232D053A-2995-2D9A-B79B-86858CD56FE7}"/>
              </a:ext>
            </a:extLst>
          </p:cNvPr>
          <p:cNvSpPr txBox="1"/>
          <p:nvPr/>
        </p:nvSpPr>
        <p:spPr>
          <a:xfrm>
            <a:off x="8163350" y="6031038"/>
            <a:ext cx="831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i="1">
                <a:solidFill>
                  <a:srgbClr val="5A666F"/>
                </a:solidFill>
                <a:latin typeface="Arial"/>
              </a:rPr>
              <a:t>t</a:t>
            </a:r>
            <a:endParaRPr lang="en-US"/>
          </a:p>
        </p:txBody>
      </p:sp>
      <p:sp>
        <p:nvSpPr>
          <p:cNvPr id="22" name="Editable text 13">
            <a:extLst>
              <a:ext uri="{FF2B5EF4-FFF2-40B4-BE49-F238E27FC236}">
                <a16:creationId xmlns:a16="http://schemas.microsoft.com/office/drawing/2014/main" id="{CD8BA8E2-6F86-E9D0-8A35-71C612077316}"/>
              </a:ext>
            </a:extLst>
          </p:cNvPr>
          <p:cNvSpPr txBox="1"/>
          <p:nvPr/>
        </p:nvSpPr>
        <p:spPr>
          <a:xfrm>
            <a:off x="8322758" y="5912544"/>
            <a:ext cx="3407690" cy="266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reduced profit/period maximum; ZΛ, zP1 restricted/full</a:t>
            </a:r>
            <a:endParaRPr lang="en-US"/>
          </a:p>
        </p:txBody>
      </p:sp>
      <p:sp>
        <p:nvSpPr>
          <p:cNvPr id="24" name="Editable text 14">
            <a:extLst>
              <a:ext uri="{FF2B5EF4-FFF2-40B4-BE49-F238E27FC236}">
                <a16:creationId xmlns:a16="http://schemas.microsoft.com/office/drawing/2014/main" id="{114CC982-D703-FCAF-C3DE-8B2F4FCC804E}"/>
              </a:ext>
            </a:extLst>
          </p:cNvPr>
          <p:cNvSpPr txBox="1"/>
          <p:nvPr/>
        </p:nvSpPr>
        <p:spPr>
          <a:xfrm>
            <a:off x="267823" y="6154129"/>
            <a:ext cx="1140088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primary objectives.</a:t>
            </a:r>
            <a:endParaRPr lang="en-US"/>
          </a:p>
        </p:txBody>
      </p:sp>
      <p:sp>
        <p:nvSpPr>
          <p:cNvPr id="26" name="Editable text 15">
            <a:extLst>
              <a:ext uri="{FF2B5EF4-FFF2-40B4-BE49-F238E27FC236}">
                <a16:creationId xmlns:a16="http://schemas.microsoft.com/office/drawing/2014/main" id="{1DED5235-7CAF-6AFC-1D32-B4E46BA46673}"/>
              </a:ext>
            </a:extLst>
          </p:cNvPr>
          <p:cNvSpPr txBox="1"/>
          <p:nvPr/>
        </p:nvSpPr>
        <p:spPr>
          <a:xfrm>
            <a:off x="267823" y="6343269"/>
            <a:ext cx="560785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650–651, Proposition 3; pp. 655–657, §4.4 and eqs. (33)–(36).</a:t>
            </a:r>
            <a:endParaRPr lang="en-US"/>
          </a:p>
        </p:txBody>
      </p:sp>
      <p:pic>
        <p:nvPicPr>
          <p:cNvPr id="34" name="Equation 19">
            <a:extLst>
              <a:ext uri="{FF2B5EF4-FFF2-40B4-BE49-F238E27FC236}">
                <a16:creationId xmlns:a16="http://schemas.microsoft.com/office/drawing/2014/main" id="{D48EA9F8-B527-5393-4329-CAC923BC6C9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54382" y="1453236"/>
            <a:ext cx="10861195" cy="1248373"/>
          </a:xfrm>
          <a:prstGeom prst="rect">
            <a:avLst/>
          </a:prstGeom>
        </p:spPr>
      </p:pic>
      <p:pic>
        <p:nvPicPr>
          <p:cNvPr id="36" name="Equation 20">
            <a:extLst>
              <a:ext uri="{FF2B5EF4-FFF2-40B4-BE49-F238E27FC236}">
                <a16:creationId xmlns:a16="http://schemas.microsoft.com/office/drawing/2014/main" id="{99CF83D5-DC3C-5221-2D18-E8E9D0160F6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325266" y="4018811"/>
            <a:ext cx="7580635" cy="91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25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7297-3F25-560A-5E22-88938949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latin typeface="Arial"/>
              </a:rPr>
              <a:t>Proposed experiment design for IPR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90036-A2CB-1385-8E35-980F9C8AD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31C6D-030C-4098-A81A-3EAF4FA34231}" type="slidenum">
              <a:rPr lang="en-US" smtClean="0"/>
              <a:pPr/>
              <a:t>10</a:t>
            </a:fld>
            <a:endParaRPr lang="en-US" sz="1200" dirty="0"/>
          </a:p>
        </p:txBody>
      </p:sp>
      <p:sp>
        <p:nvSpPr>
          <p:cNvPr id="10" name="Editable text 7">
            <a:extLst>
              <a:ext uri="{FF2B5EF4-FFF2-40B4-BE49-F238E27FC236}">
                <a16:creationId xmlns:a16="http://schemas.microsoft.com/office/drawing/2014/main" id="{3DF73F6F-4BF8-7133-DD2B-284426CFD2D5}"/>
              </a:ext>
            </a:extLst>
          </p:cNvPr>
          <p:cNvSpPr txBox="1"/>
          <p:nvPr/>
        </p:nvSpPr>
        <p:spPr>
          <a:xfrm>
            <a:off x="267822" y="4410574"/>
            <a:ext cx="8662864" cy="325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endParaRPr lang="en-US" dirty="0"/>
          </a:p>
        </p:txBody>
      </p:sp>
      <p:sp>
        <p:nvSpPr>
          <p:cNvPr id="12" name="Editable text 8">
            <a:extLst>
              <a:ext uri="{FF2B5EF4-FFF2-40B4-BE49-F238E27FC236}">
                <a16:creationId xmlns:a16="http://schemas.microsoft.com/office/drawing/2014/main" id="{5D070F9A-61A8-15D3-C65F-FC246C9C4878}"/>
              </a:ext>
            </a:extLst>
          </p:cNvPr>
          <p:cNvSpPr txBox="1"/>
          <p:nvPr/>
        </p:nvSpPr>
        <p:spPr>
          <a:xfrm>
            <a:off x="267822" y="5539668"/>
            <a:ext cx="705684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dirty="0">
                <a:solidFill>
                  <a:srgbClr val="5A666F"/>
                </a:solidFill>
                <a:latin typeface="Arial"/>
              </a:rPr>
              <a:t>Source: Adelman (2007), pp. 657–660.</a:t>
            </a:r>
            <a:endParaRPr lang="en-US" dirty="0"/>
          </a:p>
        </p:txBody>
      </p:sp>
      <p:graphicFrame>
        <p:nvGraphicFramePr>
          <p:cNvPr id="14" name="Editable table 12">
            <a:extLst>
              <a:ext uri="{FF2B5EF4-FFF2-40B4-BE49-F238E27FC236}">
                <a16:creationId xmlns:a16="http://schemas.microsoft.com/office/drawing/2014/main" id="{D0AC02E0-49B6-CA19-C2A9-5FB158ED2A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248136"/>
              </p:ext>
            </p:extLst>
          </p:nvPr>
        </p:nvGraphicFramePr>
        <p:xfrm>
          <a:off x="265591" y="1383657"/>
          <a:ext cx="11658587" cy="2553759"/>
        </p:xfrm>
        <a:graphic>
          <a:graphicData uri="http://schemas.openxmlformats.org/drawingml/2006/table">
            <a:tbl>
              <a:tblPr firstRow="1"/>
              <a:tblGrid>
                <a:gridCol w="1572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440">
                <a:tc>
                  <a:txBody>
                    <a:bodyPr/>
                    <a:lstStyle/>
                    <a:p>
                      <a:r>
                        <a:rPr lang="en-US" sz="1482" dirty="0">
                          <a:solidFill>
                            <a:srgbClr val="000000"/>
                          </a:solidFill>
                          <a:latin typeface="Arial"/>
                        </a:rPr>
                        <a:t>Factors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dirty="0">
                          <a:solidFill>
                            <a:srgbClr val="000000"/>
                          </a:solidFill>
                          <a:latin typeface="Arial"/>
                        </a:rPr>
                        <a:t>Resources, horizon, load, fare spread, arrival timing, and single- versus multi-resource products. Start with exactly enumerable cases.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4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Comparators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Exact DP where tractable; fluid and certified affine bounds; fixed static and dynamic policies; separately labeled re-solving variants; proposed first-come feasible baseline.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4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Outcomes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Bound gaps, exact or estimated policy reward, paired dynamic-minus-static difference, runtime, memory, iterations, and generated columns.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439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Inference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dirty="0">
                          <a:solidFill>
                            <a:srgbClr val="000000"/>
                          </a:solidFill>
                          <a:latin typeface="Arial"/>
                        </a:rPr>
                        <a:t>Common arrival paths and predeclared seeds; report 95% intervals for each policy mean and paired difference. Use absolute gaps when exact value is zero.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B74185D6-58F6-F6D2-9CC2-2E39A3CB9EF4}"/>
              </a:ext>
            </a:extLst>
          </p:cNvPr>
          <p:cNvGrpSpPr/>
          <p:nvPr/>
        </p:nvGrpSpPr>
        <p:grpSpPr>
          <a:xfrm>
            <a:off x="390525" y="178370"/>
            <a:ext cx="523875" cy="466725"/>
            <a:chOff x="6029325" y="2962275"/>
            <a:chExt cx="523875" cy="466725"/>
          </a:xfrm>
        </p:grpSpPr>
        <p:sp>
          <p:nvSpPr>
            <p:cNvPr id="16" name="Star: 5 Points 15">
              <a:extLst>
                <a:ext uri="{FF2B5EF4-FFF2-40B4-BE49-F238E27FC236}">
                  <a16:creationId xmlns:a16="http://schemas.microsoft.com/office/drawing/2014/main" id="{5A74507E-357B-8D05-C644-B314C422EE0D}"/>
                </a:ext>
              </a:extLst>
            </p:cNvPr>
            <p:cNvSpPr/>
            <p:nvPr/>
          </p:nvSpPr>
          <p:spPr>
            <a:xfrm>
              <a:off x="6029325" y="2962275"/>
              <a:ext cx="523875" cy="466725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85F473-90B0-C4CC-716C-8ABD242D5040}"/>
                </a:ext>
              </a:extLst>
            </p:cNvPr>
            <p:cNvSpPr txBox="1"/>
            <p:nvPr/>
          </p:nvSpPr>
          <p:spPr>
            <a:xfrm>
              <a:off x="6138862" y="3034387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sp>
        <p:nvSpPr>
          <p:cNvPr id="19" name="Editable text 5">
            <a:extLst>
              <a:ext uri="{FF2B5EF4-FFF2-40B4-BE49-F238E27FC236}">
                <a16:creationId xmlns:a16="http://schemas.microsoft.com/office/drawing/2014/main" id="{1A4E900A-4189-E2A5-5AF7-C857FB4987AE}"/>
              </a:ext>
            </a:extLst>
          </p:cNvPr>
          <p:cNvSpPr txBox="1"/>
          <p:nvPr/>
        </p:nvSpPr>
        <p:spPr>
          <a:xfrm>
            <a:off x="266129" y="990490"/>
            <a:ext cx="10846135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dirty="0">
                <a:solidFill>
                  <a:srgbClr val="000000"/>
                </a:solidFill>
                <a:latin typeface="Arial"/>
              </a:rPr>
              <a:t>Goal: Replicate Adelman’s plots and tables. Add-to as possible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599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761A-4DFA-4D62-2680-A5E71B55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Extension: Assessment of Adelman’s paper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47779-1E8A-9EB0-BEEF-4649A7EC7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31C6D-030C-4098-A81A-3EAF4FA34231}" type="slidenum">
              <a:rPr lang="en-US" smtClean="0"/>
              <a:pPr/>
              <a:t>11</a:t>
            </a:fld>
            <a:endParaRPr lang="en-US" sz="1200" dirty="0"/>
          </a:p>
        </p:txBody>
      </p:sp>
      <p:sp>
        <p:nvSpPr>
          <p:cNvPr id="6" name="Editable text 5">
            <a:extLst>
              <a:ext uri="{FF2B5EF4-FFF2-40B4-BE49-F238E27FC236}">
                <a16:creationId xmlns:a16="http://schemas.microsoft.com/office/drawing/2014/main" id="{A0416C67-C7CC-1B6D-99EC-A923C7E0846E}"/>
              </a:ext>
            </a:extLst>
          </p:cNvPr>
          <p:cNvSpPr txBox="1"/>
          <p:nvPr/>
        </p:nvSpPr>
        <p:spPr>
          <a:xfrm>
            <a:off x="267822" y="3299309"/>
            <a:ext cx="1162009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Final evidence rule: compare bounds with exact values where possible; compare policies using exact evaluation</a:t>
            </a:r>
            <a:endParaRPr lang="en-US"/>
          </a:p>
        </p:txBody>
      </p:sp>
      <p:sp>
        <p:nvSpPr>
          <p:cNvPr id="8" name="Editable text 6">
            <a:extLst>
              <a:ext uri="{FF2B5EF4-FFF2-40B4-BE49-F238E27FC236}">
                <a16:creationId xmlns:a16="http://schemas.microsoft.com/office/drawing/2014/main" id="{6B7CA9A0-4DF0-F436-BB00-BDA4BB2DBDD2}"/>
              </a:ext>
            </a:extLst>
          </p:cNvPr>
          <p:cNvSpPr txBox="1"/>
          <p:nvPr/>
        </p:nvSpPr>
        <p:spPr>
          <a:xfrm>
            <a:off x="267822" y="3593905"/>
            <a:ext cx="8681425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or paired simulation. Label published results separately from project measurements.</a:t>
            </a:r>
            <a:endParaRPr lang="en-US"/>
          </a:p>
        </p:txBody>
      </p:sp>
      <p:graphicFrame>
        <p:nvGraphicFramePr>
          <p:cNvPr id="10" name="Editable table 11">
            <a:extLst>
              <a:ext uri="{FF2B5EF4-FFF2-40B4-BE49-F238E27FC236}">
                <a16:creationId xmlns:a16="http://schemas.microsoft.com/office/drawing/2014/main" id="{1DC7776C-A1C3-771F-45F2-D03E79C5A2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801555"/>
              </p:ext>
            </p:extLst>
          </p:nvPr>
        </p:nvGraphicFramePr>
        <p:xfrm>
          <a:off x="266129" y="940859"/>
          <a:ext cx="11658587" cy="2069889"/>
        </p:xfrm>
        <a:graphic>
          <a:graphicData uri="http://schemas.openxmlformats.org/drawingml/2006/table">
            <a:tbl>
              <a:tblPr firstRow="1"/>
              <a:tblGrid>
                <a:gridCol w="3497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1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982">
                <a:tc>
                  <a:txBody>
                    <a:bodyPr/>
                    <a:lstStyle/>
                    <a:p>
                      <a:r>
                        <a:rPr lang="en-US" sz="1482" b="1" dirty="0">
                          <a:solidFill>
                            <a:srgbClr val="000000"/>
                          </a:solidFill>
                          <a:latin typeface="Arial"/>
                        </a:rPr>
                        <a:t>Model assumption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 dirty="0">
                          <a:solidFill>
                            <a:srgbClr val="000000"/>
                          </a:solidFill>
                          <a:latin typeface="Arial"/>
                        </a:rPr>
                        <a:t>Question to test or discuss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982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Known exogenous arrivals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How sensitive are policies to misspecified probabilities?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982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Nonreplenishing capacity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Does the intended application have reusable assets?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982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Affine value function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How much state dependence is lost within one solve?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982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Algorithm and scaling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Which claims are proved, certified, or only observed on test instances?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979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Published policy comparison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dirty="0">
                          <a:solidFill>
                            <a:srgbClr val="000000"/>
                          </a:solidFill>
                          <a:latin typeface="Arial"/>
                        </a:rPr>
                        <a:t>How much gain comes from time prices, lookahead, or re-solving?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1573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086841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A1. Full transition and Bellman model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1" y="3984118"/>
            <a:ext cx="869588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Initial state is c in period 1. No discount factor applies to this finite-horizon model.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4313228"/>
            <a:ext cx="11502484" cy="2631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b="1">
                <a:solidFill>
                  <a:srgbClr val="5A666F"/>
                </a:solidFill>
                <a:latin typeface="Arial"/>
              </a:rPr>
              <a:t>Variables: t, T period and horizon; r, r′ current and next resource vectors; c initial vector; i, j, n resource, class, class count; aij , Aj class resource use; uj , U(r) accept indicator and feasible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0" y="4563996"/>
            <a:ext cx="7224627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actions; ptj , pt0 arrival/no-arrival probabilities; fj fare; qt expected reward; Pt transition; vt optimal value; 1 indicator.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1" y="5565339"/>
            <a:ext cx="4532189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648–649, eq. (1); transition notation derived.</a:t>
            </a:r>
            <a:endParaRPr lang="en-US"/>
          </a:p>
        </p:txBody>
      </p:sp>
      <p:pic>
        <p:nvPicPr>
          <p:cNvPr id="12" name="Equation 12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895549"/>
            <a:ext cx="11667646" cy="1483480"/>
          </a:xfrm>
          <a:prstGeom prst="rect">
            <a:avLst/>
          </a:prstGeom>
        </p:spPr>
      </p:pic>
      <p:pic>
        <p:nvPicPr>
          <p:cNvPr id="13" name="Equation 13"/>
          <p:cNvPicPr/>
          <p:nvPr/>
        </p:nvPicPr>
        <p:blipFill>
          <a:blip r:embed="rId3"/>
          <a:stretch>
            <a:fillRect/>
          </a:stretch>
        </p:blipFill>
        <p:spPr>
          <a:xfrm>
            <a:off x="254381" y="2436535"/>
            <a:ext cx="11667646" cy="14209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9005826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A2. Exact finite-horizon Bellman LP and occupancy dual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3" y="4169648"/>
            <a:ext cx="9078170" cy="261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Strong duality gives the exact initial value. Positive xt(r, u) makes its Bellman inequality tight.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3" y="4482451"/>
            <a:ext cx="11323510" cy="1969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t, T period/horizon; r, s states in Rt ; u ∈U(r) feasible action; c initial state; qt expected reward; Pt transition probability; vt free value variable; xt nonnegative state-action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4" y="4644885"/>
            <a:ext cx="2330048" cy="2125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occupancy; vT+1 = 0 terminal value.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4" y="5602303"/>
            <a:ext cx="591128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p. 649, eq. (3); dual independently derived, not labeled P0 in the paper.</a:t>
            </a:r>
            <a:endParaRPr lang="en-US"/>
          </a:p>
        </p:txBody>
      </p:sp>
      <p:pic>
        <p:nvPicPr>
          <p:cNvPr id="12" name="Equation 12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931905"/>
            <a:ext cx="11667646" cy="1178307"/>
          </a:xfrm>
          <a:prstGeom prst="rect">
            <a:avLst/>
          </a:prstGeom>
        </p:spPr>
      </p:pic>
      <p:pic>
        <p:nvPicPr>
          <p:cNvPr id="13" name="Equation 13"/>
          <p:cNvPicPr/>
          <p:nvPr/>
        </p:nvPicPr>
        <p:blipFill>
          <a:blip r:embed="rId3"/>
          <a:stretch>
            <a:fillRect/>
          </a:stretch>
        </p:blipFill>
        <p:spPr>
          <a:xfrm>
            <a:off x="254383" y="2186498"/>
            <a:ext cx="11667645" cy="19667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33085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A3. Instructor’s discounted MDP LP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1008258"/>
            <a:ext cx="8146331" cy="2759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For finite states S, actions A(s), discount 0 ≤γ &lt; 1, and initial weight ν ≥0: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5201482"/>
            <a:ext cx="11688922" cy="2214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S state set; A(s) feasible actions; s, s′ states; a action; γ discount; ν initial state weights; V , V ∗candidate/optimal values; P transition probability; r(s, a) reward; x(s, a) discounted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417948"/>
            <a:ext cx="67851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occupancy.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2" y="5978888"/>
            <a:ext cx="502228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ISE 631 instructor prompt, p. 1; dual and full-support qualification derived.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8817" y="4543004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x counts discounted visits weighted by the initial-state measure. Complementary slackness identifies optimal actions.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8817" y="4838702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With positive initial weight on every state, the minimizing value vector equals the optimal value everywhere.</a:t>
            </a:r>
            <a:endParaRPr lang="en-US"/>
          </a:p>
        </p:txBody>
      </p:sp>
      <p:pic>
        <p:nvPicPr>
          <p:cNvPr id="14" name="Equation 14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1276880"/>
            <a:ext cx="11667646" cy="3198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7086831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A4. Fluid primal, dual, and policy distinction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3" y="4124384"/>
            <a:ext cx="2348750" cy="4669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b="1">
                <a:solidFill>
                  <a:srgbClr val="5A666F"/>
                </a:solidFill>
                <a:latin typeface="Arial"/>
              </a:rPr>
              <a:t>Variables: t period; j class; dj = ∑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584701" y="4317680"/>
            <a:ext cx="831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i="1">
                <a:solidFill>
                  <a:srgbClr val="5A666F"/>
                </a:solidFill>
                <a:latin typeface="Arial"/>
              </a:rPr>
              <a:t>t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92147" y="4203863"/>
            <a:ext cx="8295553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ptj expected demand; Yj expected acceptances; fj fare; A = (aij ) resource use; c initial capacity; λi resource dual; µj demand-cap dual.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3" y="5408296"/>
            <a:ext cx="396255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p. 650, eqs. (4)–(6) and displayed dual.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8817" y="3225801"/>
            <a:ext cx="1167152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Each capacity shadow price is nonnegative. Complementary slackness characterizes primal-dual optima.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8817" y="3548382"/>
            <a:ext cx="1167152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An online rule accepts when fare covers the capacity shadow cost; its policy performance needs separate evaluation.</a:t>
            </a:r>
            <a:endParaRPr lang="en-US"/>
          </a:p>
        </p:txBody>
      </p:sp>
      <p:pic>
        <p:nvPicPr>
          <p:cNvPr id="14" name="Equation 14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975411"/>
            <a:ext cx="11667646" cy="1349855"/>
          </a:xfrm>
          <a:prstGeom prst="rect">
            <a:avLst/>
          </a:prstGeom>
        </p:spPr>
      </p:pic>
      <p:pic>
        <p:nvPicPr>
          <p:cNvPr id="15" name="Equation 15"/>
          <p:cNvPicPr/>
          <p:nvPr/>
        </p:nvPicPr>
        <p:blipFill>
          <a:blip r:embed="rId3"/>
          <a:stretch>
            <a:fillRect/>
          </a:stretch>
        </p:blipFill>
        <p:spPr>
          <a:xfrm>
            <a:off x="254382" y="2408423"/>
            <a:ext cx="11667646" cy="7501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137757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A5. Full affine Bellman LP (D1)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4" y="3544443"/>
            <a:ext cx="10915553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Theorem 2 permits a nonnegative monotone optimal selection only under its stated positive-capacity and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4" y="3839039"/>
            <a:ext cx="2941488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positive-arrival assumptions.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4" y="4180810"/>
            <a:ext cx="11542856" cy="2091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 = 1, . . . , T period; r ∈Rt remaining state; c initial capacity; u ∈U(r) feasible acceptance vector; θt free intercept; bt free resource slopes; ptj arrival probability; fj fare; Aj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4" y="4370099"/>
            <a:ext cx="1214138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class-j resource use.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4" y="5451254"/>
            <a:ext cx="487110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p. 652, eqs. (14), (16)–(17); Theorem 2, pp. 654–655.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8817" y="940859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36">
                <a:solidFill>
                  <a:srgbClr val="000000"/>
                </a:solidFill>
                <a:latin typeface="Arial"/>
              </a:rPr>
              <a:t>At period 1, use only initial capacity c; in later periods use the full remaining-capacity state set.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8817" y="1236557"/>
            <a:ext cx="11671520" cy="3005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36">
                <a:solidFill>
                  <a:srgbClr val="000000"/>
                </a:solidFill>
                <a:latin typeface="Arial"/>
              </a:rPr>
              <a:t>Terminal intercept and slopes are zero. Earlier affine coefficients are free. The program is</a:t>
            </a:r>
            <a:endParaRPr lang="en-US"/>
          </a:p>
        </p:txBody>
      </p:sp>
      <p:pic>
        <p:nvPicPr>
          <p:cNvPr id="15" name="Equation 15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3" y="1532063"/>
            <a:ext cx="11667645" cy="19491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01846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A6. Affine dual and the bound proof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1" y="4977222"/>
            <a:ext cx="11592120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t, T period/horizon; i, j resource/class; r, s remaining states; uj accept indicator; Xt (r, u) P1 weight; qt expected reward; ptj arrival probability; aij resource use; ci initial capacity;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5164776"/>
            <a:ext cx="4562888" cy="26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Yj , dj expected acceptances/arrivals; zP1, v1(c) affine bound/exact value.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1" y="5892759"/>
            <a:ext cx="405481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652–653, eqs. (18)–(24), Theorem 1.</a:t>
            </a:r>
            <a:endParaRPr lang="en-US"/>
          </a:p>
        </p:txBody>
      </p:sp>
      <p:pic>
        <p:nvPicPr>
          <p:cNvPr id="11" name="Equation 11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927418"/>
            <a:ext cx="11667646" cy="1290321"/>
          </a:xfrm>
          <a:prstGeom prst="rect">
            <a:avLst/>
          </a:prstGeom>
        </p:spPr>
      </p:pic>
      <p:pic>
        <p:nvPicPr>
          <p:cNvPr id="12" name="Equation 12"/>
          <p:cNvPicPr/>
          <p:nvPr/>
        </p:nvPicPr>
        <p:blipFill>
          <a:blip r:embed="rId3"/>
          <a:stretch>
            <a:fillRect/>
          </a:stretch>
        </p:blipFill>
        <p:spPr>
          <a:xfrm>
            <a:off x="255376" y="2217738"/>
            <a:ext cx="11666651" cy="967740"/>
          </a:xfrm>
          <a:prstGeom prst="rect">
            <a:avLst/>
          </a:prstGeom>
        </p:spPr>
      </p:pic>
      <p:pic>
        <p:nvPicPr>
          <p:cNvPr id="13" name="Equation 13"/>
          <p:cNvPicPr/>
          <p:nvPr/>
        </p:nvPicPr>
        <p:blipFill>
          <a:blip r:embed="rId4"/>
          <a:stretch>
            <a:fillRect/>
          </a:stretch>
        </p:blipFill>
        <p:spPr>
          <a:xfrm>
            <a:off x="254379" y="3212361"/>
            <a:ext cx="11667648" cy="17204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744375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A7. Monotone prices: scope of Theorem 2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1011382"/>
            <a:ext cx="7883464" cy="2995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Under ci &gt; 0 and ptj &gt; 0 for every i, t, j, an optimal D1 solution exists with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3443811"/>
            <a:ext cx="9863141" cy="207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 period; i resource; j class; ci initial capacity; ptj arrival probability; bt,i affine resource price; θt affine intercept; D1/P1 are the affine primal-dual pair.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1" y="5005260"/>
            <a:ext cx="648935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653–655, eqs. (25)–(29), Theorem 2 and Corollary 1; counterexample derived.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68817" y="2043008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The proof uses the first period with positive P1 support for a resource, complementary slackness,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8817" y="2338706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and price changes that preserve feasibility and optimality.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8817" y="2795695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Why “exists” matters: Example 1 admits θ₂=0, b₂=0.5, θ₁=0.75, b₁=0, with objective 0.75.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8817" y="3091393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Here b₁ &lt; b₂. Zero-demand and zero-capacity cases lie outside the theorem assumptions.</a:t>
            </a:r>
            <a:endParaRPr lang="en-US"/>
          </a:p>
        </p:txBody>
      </p:sp>
      <p:pic>
        <p:nvPicPr>
          <p:cNvPr id="15" name="Equation 15"/>
          <p:cNvPicPr/>
          <p:nvPr/>
        </p:nvPicPr>
        <p:blipFill>
          <a:blip r:embed="rId2"/>
          <a:stretch>
            <a:fillRect/>
          </a:stretch>
        </p:blipFill>
        <p:spPr>
          <a:xfrm>
            <a:off x="2137094" y="1357525"/>
            <a:ext cx="7903215" cy="61827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444339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A8. Pricing, reduced costs, and stopping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1" y="3178036"/>
            <a:ext cx="5708937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itself does not claim NP-hardness or polynomial complexity.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3492574"/>
            <a:ext cx="11510661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t, T period/horizon; i, j resource/class; wj net expected class profit; di price change; ri , ci remaining/initial capacity; aij resource use; uj accept indicator; θt , bt intercept/slopes;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1" y="3678392"/>
            <a:ext cx="227509" cy="2214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i="1">
                <a:solidFill>
                  <a:srgbClr val="5A666F"/>
                </a:solidFill>
                <a:latin typeface="Cambria Math"/>
              </a:rPr>
              <a:t>ρ∗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365025" y="3798622"/>
            <a:ext cx="831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i="1">
                <a:solidFill>
                  <a:srgbClr val="5A666F"/>
                </a:solidFill>
                <a:latin typeface="Arial"/>
              </a:rPr>
              <a:t>t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524433" y="3680127"/>
            <a:ext cx="4596265" cy="2665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max reduced profit; ZΛ restricted-primary value; zP1 full value; ε tolerance.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1" y="5148781"/>
            <a:ext cx="588115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650–651, Proposition 3, and pp. 655–657, eqs. (33)–(36), Figure 2.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8817" y="940859"/>
            <a:ext cx="11671520" cy="381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36">
                <a:solidFill>
                  <a:srgbClr val="000000"/>
                </a:solidFill>
                <a:latin typeface="Arial"/>
              </a:rPr>
              <a:t>For t&gt;1, define w_j = p_tj(f_j − b_{t+1}ᵀA_j) and d_i = b_{t,i} − b_{t+1,i}. Pricing solves</a:t>
            </a:r>
            <a:endParaRPr lang="en-US"/>
          </a:p>
        </p:txBody>
      </p:sp>
      <p:pic>
        <p:nvPicPr>
          <p:cNvPr id="15" name="Equation 15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0" y="1330643"/>
            <a:ext cx="11667647" cy="18206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183263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A9. Proposed experiment matrix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3293466"/>
            <a:ext cx="11543603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 dirty="0">
                <a:solidFill>
                  <a:srgbClr val="000000"/>
                </a:solidFill>
                <a:latin typeface="Arial"/>
              </a:rPr>
              <a:t>Factor levels, pilot size, final replication precision, seeds, and published replication target require approval before Phase 4</a:t>
            </a:r>
            <a:endParaRPr lang="en-US" dirty="0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3547901"/>
            <a:ext cx="495172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runs.</a:t>
            </a:r>
            <a:endParaRPr lang="en-US"/>
          </a:p>
        </p:txBody>
      </p:sp>
      <p:graphicFrame>
        <p:nvGraphicFramePr>
          <p:cNvPr id="11" name="Editable table 11"/>
          <p:cNvGraphicFramePr/>
          <p:nvPr/>
        </p:nvGraphicFramePr>
        <p:xfrm>
          <a:off x="266129" y="940859"/>
          <a:ext cx="11658587" cy="2253171"/>
        </p:xfrm>
        <a:graphic>
          <a:graphicData uri="http://schemas.openxmlformats.org/drawingml/2006/table">
            <a:tbl>
              <a:tblPr firstRow="1"/>
              <a:tblGrid>
                <a:gridCol w="2331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7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9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903">
                <a:tc>
                  <a:txBody>
                    <a:bodyPr/>
                    <a:lstStyle/>
                    <a:p>
                      <a:r>
                        <a:rPr lang="en-US" sz="1439" b="1">
                          <a:solidFill>
                            <a:srgbClr val="000000"/>
                          </a:solidFill>
                          <a:latin typeface="Arial"/>
                        </a:rPr>
                        <a:t>Block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 b="1">
                          <a:solidFill>
                            <a:srgbClr val="000000"/>
                          </a:solidFill>
                          <a:latin typeface="Arial"/>
                        </a:rPr>
                        <a:t>Variation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 b="1">
                          <a:solidFill>
                            <a:srgbClr val="000000"/>
                          </a:solidFill>
                          <a:latin typeface="Arial"/>
                        </a:rPr>
                        <a:t>Evidence to record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03"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Verification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Example 1; two-resource case; edge cases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DP, exact LP and dual, fluid, full affine LP; values and residuals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903"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Bound strength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Size, load, timing, fare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Exact V* when feasible; fluid and certified affine bounds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903"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Policy value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Fixed and re-solved policies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Tiny-case exact value; policy and paired-difference 95% intervals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903"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Computation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Enumeration versus columns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Runtime, memory, iterations, generated columns, pricing gaps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901"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Truncation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Columns, states, horizon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 dirty="0">
                          <a:solidFill>
                            <a:srgbClr val="000000"/>
                          </a:solidFill>
                          <a:latin typeface="Arial"/>
                        </a:rPr>
                        <a:t>Time saved, omitted constraints, surviving certificates</a:t>
                      </a:r>
                      <a:endParaRPr lang="en-US" dirty="0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53522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A10. Instructor requirements I01–I07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3802309"/>
            <a:ext cx="11358490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Draft formulas in this brief are presentation material. The register remains planned until evidence paths and a separate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4056744"/>
            <a:ext cx="2097760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reviewer are recorded.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327813"/>
            <a:ext cx="3909259" cy="172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requirements.csv, I01–I07; instructor prompt, pp. 1–2.</a:t>
            </a:r>
            <a:endParaRPr lang="en-US"/>
          </a:p>
        </p:txBody>
      </p:sp>
      <p:graphicFrame>
        <p:nvGraphicFramePr>
          <p:cNvPr id="11" name="Editable table 11"/>
          <p:cNvGraphicFramePr/>
          <p:nvPr/>
        </p:nvGraphicFramePr>
        <p:xfrm>
          <a:off x="266129" y="940859"/>
          <a:ext cx="11658587" cy="2607523"/>
        </p:xfrm>
        <a:graphic>
          <a:graphicData uri="http://schemas.openxmlformats.org/drawingml/2006/table">
            <a:tbl>
              <a:tblPr firstRow="1"/>
              <a:tblGrid>
                <a:gridCol w="1165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8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2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940"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ID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Final part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Register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Evidence needed next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9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I01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2–4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Discounted Bellman LP, occupancy dual, complementary slackness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9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I02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Exact network MDP and state-growth analysis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I03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2–3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Fluid primal/dual and static-policy validation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9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3–5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Source-matched affine ALP and algorithm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9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Paper method and solution approach, source-linked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9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I06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3–5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Correct LP course-concept mapping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943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I07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Principal theorem and independently reviewed proof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53522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A11. Instructor requirements I08–I14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3547901"/>
            <a:ext cx="11252863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I14 has approved questions on file, but its requirement register is not reviewed. I08 and I12 have no project numerical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3802309"/>
            <a:ext cx="1060577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results yet.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200609"/>
            <a:ext cx="3693537" cy="172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requirements.csv, I08–I14; instructor prompt, p. 2.</a:t>
            </a:r>
            <a:endParaRPr lang="en-US"/>
          </a:p>
        </p:txBody>
      </p:sp>
      <p:graphicFrame>
        <p:nvGraphicFramePr>
          <p:cNvPr id="11" name="Editable table 11"/>
          <p:cNvGraphicFramePr/>
          <p:nvPr/>
        </p:nvGraphicFramePr>
        <p:xfrm>
          <a:off x="266129" y="940859"/>
          <a:ext cx="11658587" cy="2365588"/>
        </p:xfrm>
        <a:graphic>
          <a:graphicData uri="http://schemas.openxmlformats.org/drawingml/2006/table">
            <a:tbl>
              <a:tblPr firstRow="1"/>
              <a:tblGrid>
                <a:gridCol w="1165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8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2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698"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ID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Final part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Register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Evidence needed next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98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I08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Reproducible fluid, static, and dynamic policy tests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98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I09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3–4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Approximation benefit with verified example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98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I10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Full bound-dominance derivation and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98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I11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Pricing formulation and qualified complexity account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98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I12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Policy, exact MDP, and fluid gap results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98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I13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Evidence-based critique and alternatives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702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1, 5, 8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Approved independent RQs linked to final analysis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3226</Words>
  <Application>Microsoft Office PowerPoint</Application>
  <PresentationFormat>Widescreen</PresentationFormat>
  <Paragraphs>374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IPR 2 Decision Brief</vt:lpstr>
      <vt:lpstr>PowerPoint Presentation</vt:lpstr>
      <vt:lpstr>Roadmap from IPR 1 to the final presentation</vt:lpstr>
      <vt:lpstr>Finite-horizon network revenue management</vt:lpstr>
      <vt:lpstr>Exact MDP and its linear program</vt:lpstr>
      <vt:lpstr>Fluid LP and affine approximate LP</vt:lpstr>
      <vt:lpstr>Two upper-bound arguments</vt:lpstr>
      <vt:lpstr>Published example and planned verification</vt:lpstr>
      <vt:lpstr>Column generation and its certificate</vt:lpstr>
      <vt:lpstr>Proposed experiment design for IPR 3</vt:lpstr>
      <vt:lpstr>Extension: Assessment of Adelman’s paper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Jockheck</dc:creator>
  <cp:lastModifiedBy>Herbert Jockheck</cp:lastModifiedBy>
  <cp:revision>2</cp:revision>
  <dcterms:created xsi:type="dcterms:W3CDTF">2026-10-29T19:18:38Z</dcterms:created>
  <dcterms:modified xsi:type="dcterms:W3CDTF">2026-10-29T20:05:02Z</dcterms:modified>
</cp:coreProperties>
</file>