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647C2-AB39-F90B-9118-07A8DD322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83A6F-8067-F96A-40AF-30F5519EF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342CD-219B-B877-F0C2-8E90B4AD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06918-D796-66BE-E685-673CEC462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7FF77-7493-12CC-B945-0457EB641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67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4F14-1F5D-80F8-83DA-4AAD05BB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17B48-EEE8-7DA0-24DE-E7504F0BC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29329-0200-9C2C-519C-1C2C144F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AD77E-591A-2C93-AD93-7F312390D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3A451-1E44-3BFE-453E-C7C0CBC93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8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1D1B1-B4BF-7826-240A-6F2F847B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A5104-6A05-4033-1FC5-A20954243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B3580-4B93-73B2-FF03-4D31B1603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CA1B-D317-9E8C-F01B-9EB41E4CB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6F746-03BE-9B58-38E1-2D739860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A743C-C513-E275-D4CC-ED0158F3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CE228-83E0-BA90-3626-E2B0DF10B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FC15F-9A7F-9994-D037-3CE6518C3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4449E-1CF0-48EE-E372-AEA918B0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4AEB2-F226-28D8-2182-E8C198224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5421C-9FB2-AA29-2A62-5BB3539B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83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290AC-3EB8-13CF-B965-E96FFA0F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A94C5-65E4-7C8A-49DB-2E7025987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2ADAD-CE6E-7163-00D5-3471BD1B3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1C2D4-A21F-D223-73C7-F940FE9F5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44E6E-225F-E5F3-5E1A-5E0162F0F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ED6334-0F64-1D1B-6551-9FDB5F658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F69E89-7812-2BF8-4388-43767CFF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569913-7651-75C5-EC3F-07604845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9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4EC0A-5750-3F44-1484-CB3601127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EBC8B-AB23-2714-4F42-2D673584B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976048-55F5-4C73-B01F-8EA908E55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91558-80E2-0C8C-4217-FBECF135B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70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56FFBC-421B-5553-CEC9-6FAA73546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601B4-629F-AB49-4400-41FC657F0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0078E-1EE6-92A2-2C0F-F6B08AD30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40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252FD-B200-03B5-8CBF-2DFC656E8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0F71B-2B58-525E-9DB8-54D7BA013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A8283-839D-48A4-8C6F-696D24EFE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DA89E-4B24-B9AA-7816-8D68157FF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42FDC-778C-1751-1343-334226901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D9ACC-726A-3C3C-0407-CC502D73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4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8967D-8B37-6B6F-A16F-E14AEF574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9154F8-291B-8785-F79E-61EF3F6479F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8FEA7-3462-9860-FF4F-7B1BD631B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6C1C0-46E5-C177-B5E5-2AB8B9C81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4E8DE-138D-CD58-5961-B303E6312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218BF-02C2-A418-42F3-B1A5C7EA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11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6992-0BCA-823B-C2F7-7B7689AE3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0E385-A841-166E-0EB6-2BB3FBFA1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CEF03-3EB9-0494-02A9-D4F00B8CD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63CC9-FD8C-3CB5-D904-A21BE0E4B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165F9-F8CA-3C3D-E3B9-825E38E84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86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2D82DB-3739-AEDA-3209-340B164C73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B33D45-C25B-CE56-B764-469B9D395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C92FE-DA5A-47B7-0A64-B0AF6EFF6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CB29E-F65D-4415-F5AE-D413E051C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A9D52-68E1-DB80-B12C-8FA6CCE64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6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93D694-190E-1282-045E-56089DD9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52575-2811-70FD-7C2C-357E3D80C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3757F-EA73-2DBB-C9FE-20D59617EB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A1066-5062-C7A0-4A02-8A027937A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CDFFA-FDA6-4639-8E97-79AD2305B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54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equation_5_1.png" /><ns0:Relationship Id="rId3" Type="http://schemas.openxmlformats.org/officeDocument/2006/relationships/image" Target="../media/equation_5_2.png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equation_6_1.png" /><ns0:Relationship Id="rId3" Type="http://schemas.openxmlformats.org/officeDocument/2006/relationships/image" Target="../media/equation_6_2.png" /><ns0:Relationship Id="rId4" Type="http://schemas.openxmlformats.org/officeDocument/2006/relationships/image" Target="../media/equation_6_3.png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equation_7_1.png" /><ns0:Relationship Id="rId3" Type="http://schemas.openxmlformats.org/officeDocument/2006/relationships/image" Target="../media/equation_7_2.png" /><ns0:Relationship Id="rId4" Type="http://schemas.openxmlformats.org/officeDocument/2006/relationships/image" Target="../media/equation_7_3.png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equation_8_1.png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equation_9_1.png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equation_10_1.png" /><ns0:Relationship Id="rId3" Type="http://schemas.openxmlformats.org/officeDocument/2006/relationships/image" Target="../media/equation_10_2.png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equation_15_1.png" /><ns0:Relationship Id="rId3" Type="http://schemas.openxmlformats.org/officeDocument/2006/relationships/image" Target="../media/equation_15_2.png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equation_16_1.png" /><ns0:Relationship Id="rId3" Type="http://schemas.openxmlformats.org/officeDocument/2006/relationships/image" Target="../media/equation_16_2.png" /></ns0: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equation_17_1.png" /></ns0:Relationships>
</file>

<file path=ppt/slides/_rels/slide1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equation_18_1.png" /><ns0:Relationship Id="rId3" Type="http://schemas.openxmlformats.org/officeDocument/2006/relationships/image" Target="../media/equation_18_2.png" /></ns0:Relationships>
</file>

<file path=ppt/slides/_rels/slide1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equation_19_1.png" /></ns0:Relationships>
</file>

<file path=ppt/slides/_rels/slide2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equation_20_1.png" /><ns0:Relationship Id="rId3" Type="http://schemas.openxmlformats.org/officeDocument/2006/relationships/image" Target="../media/equation_20_2.png" /><ns0:Relationship Id="rId4" Type="http://schemas.openxmlformats.org/officeDocument/2006/relationships/image" Target="../media/equation_20_3.png" /></ns0:Relationships>
</file>

<file path=ppt/slides/_rels/slide2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equation_21_1.png" /></ns0:Relationships>
</file>

<file path=ppt/slides/_rels/slide2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equation_22_1.png" /></ns0:Relationships>
</file>

<file path=ppt/slides/_rels/slide2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2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2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rectangle 2"/>
          <p:cNvSpPr/>
          <p:nvPr/>
        </p:nvSpPr>
        <p:spPr>
          <a:xfrm>
            <a:off x="267822" y="931961"/>
            <a:ext cx="11656383" cy="855644"/>
          </a:xfrm>
          <a:prstGeom prst="rect">
            <a:avLst/>
          </a:prstGeom>
          <a:solidFill>
            <a:srgbClr val="E6F1F1"/>
          </a:solidFill>
          <a:ln>
            <a:noFill/>
          </a:ln>
        </p:spPr>
      </p:sp>
      <p:sp>
        <p:nvSpPr>
          <p:cNvPr id="3" name="Editable text 3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28602" y="411209"/>
            <a:ext cx="3246529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IPR 2 Decision Brief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561370" y="1084366"/>
            <a:ext cx="11102593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Purpose: Confirm the Adelman mathematics, course-requirement coverage, and evidence plan for the final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5432735" y="1378962"/>
            <a:ext cx="135863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presentation.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3" y="2152266"/>
            <a:ext cx="2211161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 xml:space="preserve">Decisions requested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545672" y="2517368"/>
            <a:ext cx="2630180" cy="30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 xml:space="preserve">• Slide 8: Proof and LP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803440" y="2848582"/>
            <a:ext cx="732189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depth?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545672" y="3283979"/>
            <a:ext cx="3328690" cy="30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• Slide 10: IPR 3 computation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803440" y="3615194"/>
            <a:ext cx="722789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scope?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545672" y="4050618"/>
            <a:ext cx="2349619" cy="3093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• Slide 11: Published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803440" y="4381806"/>
            <a:ext cx="1911318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replication target?</a:t>
            </a:r>
            <a:endParaRPr lang="en-US"/>
          </a:p>
        </p:txBody>
      </p:sp>
      <p:sp>
        <p:nvSpPr>
          <p:cNvPr id="15" name="Editable text 15"/>
          <p:cNvSpPr txBox="1"/>
          <p:nvPr/>
        </p:nvSpPr>
        <p:spPr>
          <a:xfrm>
            <a:off x="545672" y="4817230"/>
            <a:ext cx="2510146" cy="3093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• Slide 13: Conceptual</a:t>
            </a:r>
            <a:endParaRPr lang="en-US"/>
          </a:p>
        </p:txBody>
      </p:sp>
      <p:sp>
        <p:nvSpPr>
          <p:cNvPr id="16" name="Editable text 16"/>
          <p:cNvSpPr txBox="1"/>
          <p:nvPr/>
        </p:nvSpPr>
        <p:spPr>
          <a:xfrm>
            <a:off x="803440" y="5148418"/>
            <a:ext cx="1927948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application scope?</a:t>
            </a:r>
            <a:endParaRPr lang="en-US"/>
          </a:p>
        </p:txBody>
      </p:sp>
      <p:sp>
        <p:nvSpPr>
          <p:cNvPr id="17" name="Editable text 17"/>
          <p:cNvSpPr txBox="1"/>
          <p:nvPr/>
        </p:nvSpPr>
        <p:spPr>
          <a:xfrm>
            <a:off x="4172603" y="2152266"/>
            <a:ext cx="1561821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 xml:space="preserve">Agenda today</a:t>
            </a:r>
            <a:endParaRPr lang="en-US"/>
          </a:p>
        </p:txBody>
      </p:sp>
      <p:sp>
        <p:nvSpPr>
          <p:cNvPr id="18" name="Editable text 18"/>
          <p:cNvSpPr txBox="1"/>
          <p:nvPr/>
        </p:nvSpPr>
        <p:spPr>
          <a:xfrm>
            <a:off x="4450453" y="2517368"/>
            <a:ext cx="2933880" cy="30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• Progress and requirement</a:t>
            </a:r>
            <a:endParaRPr lang="en-US"/>
          </a:p>
        </p:txBody>
      </p:sp>
      <p:sp>
        <p:nvSpPr>
          <p:cNvPr id="19" name="Editable text 19"/>
          <p:cNvSpPr txBox="1"/>
          <p:nvPr/>
        </p:nvSpPr>
        <p:spPr>
          <a:xfrm>
            <a:off x="4708221" y="2848582"/>
            <a:ext cx="100166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crosswalk</a:t>
            </a:r>
            <a:endParaRPr lang="en-US"/>
          </a:p>
        </p:txBody>
      </p:sp>
      <p:sp>
        <p:nvSpPr>
          <p:cNvPr id="20" name="Editable text 20"/>
          <p:cNvSpPr txBox="1"/>
          <p:nvPr/>
        </p:nvSpPr>
        <p:spPr>
          <a:xfrm>
            <a:off x="4450453" y="3283979"/>
            <a:ext cx="3440531" cy="30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• Exact, fluid, and affine models</a:t>
            </a:r>
            <a:endParaRPr lang="en-US"/>
          </a:p>
        </p:txBody>
      </p:sp>
      <p:sp>
        <p:nvSpPr>
          <p:cNvPr id="21" name="Editable text 21"/>
          <p:cNvSpPr txBox="1"/>
          <p:nvPr/>
        </p:nvSpPr>
        <p:spPr>
          <a:xfrm>
            <a:off x="4450453" y="3756021"/>
            <a:ext cx="2867355" cy="3093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• Bound proof and column</a:t>
            </a:r>
            <a:endParaRPr lang="en-US"/>
          </a:p>
        </p:txBody>
      </p:sp>
      <p:sp>
        <p:nvSpPr>
          <p:cNvPr id="22" name="Editable text 22"/>
          <p:cNvSpPr txBox="1"/>
          <p:nvPr/>
        </p:nvSpPr>
        <p:spPr>
          <a:xfrm>
            <a:off x="4708221" y="4087209"/>
            <a:ext cx="1107957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generation</a:t>
            </a:r>
            <a:endParaRPr lang="en-US"/>
          </a:p>
        </p:txBody>
      </p:sp>
      <p:sp>
        <p:nvSpPr>
          <p:cNvPr id="23" name="Editable text 23"/>
          <p:cNvSpPr txBox="1"/>
          <p:nvPr/>
        </p:nvSpPr>
        <p:spPr>
          <a:xfrm>
            <a:off x="4450453" y="4522633"/>
            <a:ext cx="3141890" cy="3093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• Verification and experiment</a:t>
            </a:r>
            <a:endParaRPr lang="en-US"/>
          </a:p>
        </p:txBody>
      </p:sp>
      <p:sp>
        <p:nvSpPr>
          <p:cNvPr id="24" name="Editable text 24"/>
          <p:cNvSpPr txBox="1"/>
          <p:nvPr/>
        </p:nvSpPr>
        <p:spPr>
          <a:xfrm>
            <a:off x="4708221" y="4853821"/>
            <a:ext cx="675787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design</a:t>
            </a:r>
            <a:endParaRPr lang="en-US"/>
          </a:p>
        </p:txBody>
      </p:sp>
      <p:sp>
        <p:nvSpPr>
          <p:cNvPr id="25" name="Editable text 25"/>
          <p:cNvSpPr txBox="1"/>
          <p:nvPr/>
        </p:nvSpPr>
        <p:spPr>
          <a:xfrm>
            <a:off x="4450453" y="5289245"/>
            <a:ext cx="2981362" cy="3093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• Final-brief scope and risks</a:t>
            </a:r>
            <a:endParaRPr lang="en-US"/>
          </a:p>
        </p:txBody>
      </p:sp>
      <p:sp>
        <p:nvSpPr>
          <p:cNvPr id="26" name="Editable text 26"/>
          <p:cNvSpPr txBox="1"/>
          <p:nvPr/>
        </p:nvSpPr>
        <p:spPr>
          <a:xfrm>
            <a:off x="8194074" y="2152266"/>
            <a:ext cx="2270937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 xml:space="preserve">Successful end state</a:t>
            </a:r>
            <a:endParaRPr lang="en-US"/>
          </a:p>
        </p:txBody>
      </p:sp>
      <p:sp>
        <p:nvSpPr>
          <p:cNvPr id="27" name="Editable text 27"/>
          <p:cNvSpPr txBox="1"/>
          <p:nvPr/>
        </p:nvSpPr>
        <p:spPr>
          <a:xfrm>
            <a:off x="8471923" y="2517368"/>
            <a:ext cx="2749734" cy="30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• Theory coverage agreed</a:t>
            </a:r>
            <a:endParaRPr lang="en-US"/>
          </a:p>
        </p:txBody>
      </p:sp>
      <p:sp>
        <p:nvSpPr>
          <p:cNvPr id="28" name="Editable text 28"/>
          <p:cNvSpPr txBox="1"/>
          <p:nvPr/>
        </p:nvSpPr>
        <p:spPr>
          <a:xfrm>
            <a:off x="8471923" y="2989410"/>
            <a:ext cx="2771188" cy="3093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• Numerical gates defined</a:t>
            </a:r>
            <a:endParaRPr lang="en-US"/>
          </a:p>
        </p:txBody>
      </p:sp>
      <p:sp>
        <p:nvSpPr>
          <p:cNvPr id="29" name="Editable text 29"/>
          <p:cNvSpPr txBox="1"/>
          <p:nvPr/>
        </p:nvSpPr>
        <p:spPr>
          <a:xfrm>
            <a:off x="8471923" y="3461425"/>
            <a:ext cx="3234691" cy="3093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• IPR 3 comparisons approved</a:t>
            </a:r>
            <a:endParaRPr lang="en-US"/>
          </a:p>
        </p:txBody>
      </p:sp>
      <p:sp>
        <p:nvSpPr>
          <p:cNvPr id="30" name="Editable text 30"/>
          <p:cNvSpPr txBox="1"/>
          <p:nvPr/>
        </p:nvSpPr>
        <p:spPr>
          <a:xfrm>
            <a:off x="8471923" y="3933440"/>
            <a:ext cx="2625604" cy="3093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• Final narrative ordered</a:t>
            </a:r>
            <a:endParaRPr lang="en-US"/>
          </a:p>
        </p:txBody>
      </p:sp>
      <p:sp>
        <p:nvSpPr>
          <p:cNvPr id="31" name="Editable text 31"/>
          <p:cNvSpPr txBox="1"/>
          <p:nvPr/>
        </p:nvSpPr>
        <p:spPr>
          <a:xfrm>
            <a:off x="8471923" y="4405456"/>
            <a:ext cx="2882062" cy="3093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• Extension limits recorded</a:t>
            </a:r>
            <a:endParaRPr lang="en-US"/>
          </a:p>
        </p:txBody>
      </p:sp>
      <p:sp>
        <p:nvSpPr>
          <p:cNvPr id="32" name="Editable text 32"/>
          <p:cNvSpPr txBox="1"/>
          <p:nvPr/>
        </p:nvSpPr>
        <p:spPr>
          <a:xfrm>
            <a:off x="267823" y="5977677"/>
            <a:ext cx="5782202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Structure follows the IPR 1 decision brief, p. 1. Status and requests are project-specific.</a:t>
            </a:r>
            <a:endParaRPr lang="en-US"/>
          </a:p>
        </p:txBody>
      </p:sp>
      <p:sp>
        <p:nvSpPr>
          <p:cNvPr id="33" name="Editable text 33"/>
          <p:cNvSpPr txBox="1"/>
          <p:nvPr/>
        </p:nvSpPr>
        <p:spPr>
          <a:xfrm>
            <a:off x="213414" y="6612756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34" name="Editable text 34"/>
          <p:cNvSpPr txBox="1"/>
          <p:nvPr/>
        </p:nvSpPr>
        <p:spPr>
          <a:xfrm>
            <a:off x="6120637" y="6612756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35" name="Editable text 35"/>
          <p:cNvSpPr txBox="1"/>
          <p:nvPr/>
        </p:nvSpPr>
        <p:spPr>
          <a:xfrm>
            <a:off x="11694043" y="6612756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1/25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rectangle 2"/>
          <p:cNvSpPr/>
          <p:nvPr/>
        </p:nvSpPr>
        <p:spPr>
          <a:xfrm>
            <a:off x="1243708" y="5876738"/>
            <a:ext cx="817821" cy="374946"/>
          </a:xfrm>
          <a:prstGeom prst="rect">
            <a:avLst/>
          </a:prstGeom>
          <a:solidFill>
            <a:srgbClr val="A6252B"/>
          </a:solidFill>
          <a:ln>
            <a:noFill/>
          </a:ln>
        </p:spPr>
      </p:sp>
      <p:sp>
        <p:nvSpPr>
          <p:cNvPr id="3" name="Editable rectangle 3"/>
          <p:cNvSpPr/>
          <p:nvPr/>
        </p:nvSpPr>
        <p:spPr>
          <a:xfrm>
            <a:off x="3056179" y="5876738"/>
            <a:ext cx="601047" cy="374946"/>
          </a:xfrm>
          <a:prstGeom prst="rect">
            <a:avLst/>
          </a:prstGeom>
          <a:solidFill>
            <a:srgbClr val="FFE769"/>
          </a:solidFill>
          <a:ln>
            <a:noFill/>
          </a:ln>
        </p:spPr>
      </p:sp>
      <p:sp>
        <p:nvSpPr>
          <p:cNvPr id="4" name="Editable rectangle 4"/>
          <p:cNvSpPr/>
          <p:nvPr/>
        </p:nvSpPr>
        <p:spPr>
          <a:xfrm>
            <a:off x="4677897" y="5876738"/>
            <a:ext cx="1108977" cy="374946"/>
          </a:xfrm>
          <a:prstGeom prst="rect">
            <a:avLst/>
          </a:prstGeom>
          <a:solidFill>
            <a:srgbClr val="EEAE36"/>
          </a:solidFill>
          <a:ln>
            <a:noFill/>
          </a:ln>
        </p:spPr>
      </p:sp>
      <p:sp>
        <p:nvSpPr>
          <p:cNvPr id="5" name="Editable rectangle 5"/>
          <p:cNvSpPr/>
          <p:nvPr/>
        </p:nvSpPr>
        <p:spPr>
          <a:xfrm>
            <a:off x="6732384" y="5876738"/>
            <a:ext cx="945080" cy="374946"/>
          </a:xfrm>
          <a:prstGeom prst="rect">
            <a:avLst/>
          </a:prstGeom>
          <a:solidFill>
            <a:srgbClr val="1F7A4B"/>
          </a:solidFill>
          <a:ln>
            <a:noFill/>
          </a:ln>
        </p:spPr>
      </p:sp>
      <p:sp>
        <p:nvSpPr>
          <p:cNvPr id="6" name="Editable text 6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28602" y="411209"/>
            <a:ext cx="7432374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Final-presentation crosswalk and current status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67822" y="5960549"/>
            <a:ext cx="421870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 b="1">
                <a:solidFill>
                  <a:srgbClr val="000000"/>
                </a:solidFill>
                <a:latin typeface="Arial"/>
              </a:rPr>
              <a:t xml:space="preserve">Key: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857033" y="5960549"/>
            <a:ext cx="1155821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>
                <a:solidFill>
                  <a:srgbClr val="FFFFFF"/>
                </a:solidFill>
                <a:latin typeface="Arial"/>
              </a:rPr>
              <a:t xml:space="preserve">Red Blocked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459896" y="5960549"/>
            <a:ext cx="1148716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>
                <a:solidFill>
                  <a:srgbClr val="000000"/>
                </a:solidFill>
                <a:latin typeface="Arial"/>
              </a:rPr>
              <a:t xml:space="preserve">Yellow Draft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4055654" y="5960549"/>
            <a:ext cx="1682553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>
                <a:solidFill>
                  <a:srgbClr val="000000"/>
                </a:solidFill>
                <a:latin typeface="Arial"/>
              </a:rPr>
              <a:t xml:space="preserve">Amber Not started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6185249" y="5960549"/>
            <a:ext cx="1443786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>
                <a:solidFill>
                  <a:srgbClr val="FFFFFF"/>
                </a:solidFill>
                <a:latin typeface="Arial"/>
              </a:rPr>
              <a:t xml:space="preserve">Green Complete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7823" y="6322973"/>
            <a:ext cx="95730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User’s final outline and project phase plan. Status describes presentation progress; formal requirements I01–I14 remain unverified in the project register.</a:t>
            </a:r>
            <a:endParaRPr lang="en-US"/>
          </a:p>
        </p:txBody>
      </p:sp>
      <p:sp>
        <p:nvSpPr>
          <p:cNvPr id="15" name="Editable text 15"/>
          <p:cNvSpPr txBox="1"/>
          <p:nvPr/>
        </p:nvSpPr>
        <p:spPr>
          <a:xfrm>
            <a:off x="213414" y="6612758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16" name="Editable text 16"/>
          <p:cNvSpPr txBox="1"/>
          <p:nvPr/>
        </p:nvSpPr>
        <p:spPr>
          <a:xfrm>
            <a:off x="6120637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7" name="Editable text 17"/>
          <p:cNvSpPr txBox="1"/>
          <p:nvPr/>
        </p:nvSpPr>
        <p:spPr>
          <a:xfrm>
            <a:off x="11694043" y="6612758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2/25</a:t>
            </a:r>
            <a:endParaRPr lang="en-US"/>
          </a:p>
        </p:txBody>
      </p:sp>
      <p:graphicFrame>
        <p:nvGraphicFramePr>
          <p:cNvPr id="18" name="Editable table 18"/>
          <p:cNvGraphicFramePr/>
          <p:nvPr/>
        </p:nvGraphicFramePr>
        <p:xfrm>
          <a:off x="266129" y="940859"/>
          <a:ext cx="11658587" cy="4741928"/>
        </p:xfrm>
        <a:graphic>
          <a:graphicData uri="http://schemas.openxmlformats.org/drawingml/2006/table">
            <a:tbl>
              <a:tblPr firstRow="1"/>
              <a:tblGrid>
                <a:gridCol w="2681475"/>
                <a:gridCol w="3847334"/>
                <a:gridCol w="1981960"/>
                <a:gridCol w="3147818"/>
              </a:tblGrid>
              <a:tr h="395161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 b="1">
                          <a:solidFill>
                            <a:srgbClr val="000000"/>
                          </a:solidFill>
                          <a:latin typeface="Arial"/>
                        </a:rPr>
                        <a:t>Section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 b="1">
                          <a:solidFill>
                            <a:srgbClr val="000000"/>
                          </a:solidFill>
                          <a:latin typeface="Arial"/>
                        </a:rPr>
                        <a:t>Deliverable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 b="1">
                          <a:solidFill>
                            <a:srgbClr val="000000"/>
                          </a:solidFill>
                          <a:latin typeface="Arial"/>
                        </a:rPr>
                        <a:t>Status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 b="1">
                          <a:solidFill>
                            <a:srgbClr val="000000"/>
                          </a:solidFill>
                          <a:latin typeface="Arial"/>
                        </a:rPr>
                        <a:t>Next action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95161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1. Intro (I14)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Pricing motivation and approved RQs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Verify history and prevalence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95161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2. RM (I01–I03)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Discounted LP, exact MDP, fluid LP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Audit signs and example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95161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3. Method (I04–I06, I09)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Affine ALP, duality, decision rule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Complete formal audit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95161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4. Proof (I07, I10)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Bound hierarchy and theorem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File independent proof audit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95161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5. Scale (I11)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Pricing and column generation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Verify complexity and separation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95161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6. Design (I08, I12)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Benchmarks, metrics, policies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Approve factors and baselines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95161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6. Results (I08, I12)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Code, tables, chart, sensitivity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EEAE36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Pass preflight and tests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95161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7. Critique (I13)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Assumptions and alternatives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Link claims to evidence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95161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8. Literature (I14)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Pricing lineage and FTC context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EEAE36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Verify works and primary source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95161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8. Extension (I14)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Synthetic pricing application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FFFFFF"/>
                          </a:solidFill>
                          <a:latin typeface="Arial"/>
                        </a:rPr>
                        <a:t>Blocked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A6252B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Await course and human gate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95157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9. Conclusion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Three supported takeaways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Update after results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rectangle 2"/>
          <p:cNvSpPr/>
          <p:nvPr/>
        </p:nvSpPr>
        <p:spPr>
          <a:xfrm>
            <a:off x="267822" y="942660"/>
            <a:ext cx="11656383" cy="2142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Editable rectangle 3"/>
          <p:cNvSpPr/>
          <p:nvPr/>
        </p:nvSpPr>
        <p:spPr>
          <a:xfrm>
            <a:off x="267822" y="1339433"/>
            <a:ext cx="11656383" cy="13387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" name="Editable rectangle 4"/>
          <p:cNvSpPr/>
          <p:nvPr/>
        </p:nvSpPr>
        <p:spPr>
          <a:xfrm>
            <a:off x="267822" y="3008302"/>
            <a:ext cx="11656383" cy="2142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5" name="Editable text 5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28602" y="411209"/>
            <a:ext cx="7297011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Roadmap from IPR 1 to the final presentation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2" y="1041372"/>
            <a:ext cx="1269042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IPR 1: scope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3046427" y="1041372"/>
            <a:ext cx="1333102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IPR 2: theory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6174901" y="1041372"/>
            <a:ext cx="1541140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IPR 3: evidence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9303590" y="1041372"/>
            <a:ext cx="1501718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Final: synthesis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67822" y="1431337"/>
            <a:ext cx="2391282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Six approved questions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67822" y="1685772"/>
            <a:ext cx="1236690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LP themes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7822" y="1940181"/>
            <a:ext cx="1775529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Verification plan</a:t>
            </a:r>
            <a:endParaRPr lang="en-US"/>
          </a:p>
        </p:txBody>
      </p:sp>
      <p:sp>
        <p:nvSpPr>
          <p:cNvPr id="15" name="Editable text 15"/>
          <p:cNvSpPr txBox="1"/>
          <p:nvPr/>
        </p:nvSpPr>
        <p:spPr>
          <a:xfrm>
            <a:off x="267822" y="2194616"/>
            <a:ext cx="2284372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Application guardrails</a:t>
            </a:r>
            <a:endParaRPr lang="en-US"/>
          </a:p>
        </p:txBody>
      </p:sp>
      <p:sp>
        <p:nvSpPr>
          <p:cNvPr id="16" name="Editable text 16"/>
          <p:cNvSpPr txBox="1"/>
          <p:nvPr/>
        </p:nvSpPr>
        <p:spPr>
          <a:xfrm>
            <a:off x="3046474" y="1431337"/>
            <a:ext cx="2694659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Exact and discounted LPs</a:t>
            </a:r>
            <a:endParaRPr lang="en-US"/>
          </a:p>
        </p:txBody>
      </p:sp>
      <p:sp>
        <p:nvSpPr>
          <p:cNvPr id="17" name="Editable text 17"/>
          <p:cNvSpPr txBox="1"/>
          <p:nvPr/>
        </p:nvSpPr>
        <p:spPr>
          <a:xfrm>
            <a:off x="3046474" y="1685772"/>
            <a:ext cx="2442487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Fluid and affine models</a:t>
            </a:r>
            <a:endParaRPr lang="en-US"/>
          </a:p>
        </p:txBody>
      </p:sp>
      <p:sp>
        <p:nvSpPr>
          <p:cNvPr id="18" name="Editable text 18"/>
          <p:cNvSpPr txBox="1"/>
          <p:nvPr/>
        </p:nvSpPr>
        <p:spPr>
          <a:xfrm>
            <a:off x="3046474" y="1940181"/>
            <a:ext cx="1408089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Bound proof</a:t>
            </a:r>
            <a:endParaRPr lang="en-US"/>
          </a:p>
        </p:txBody>
      </p:sp>
      <p:sp>
        <p:nvSpPr>
          <p:cNvPr id="19" name="Editable text 19"/>
          <p:cNvSpPr txBox="1"/>
          <p:nvPr/>
        </p:nvSpPr>
        <p:spPr>
          <a:xfrm>
            <a:off x="3046474" y="2194616"/>
            <a:ext cx="2046981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Pricing formulation</a:t>
            </a:r>
            <a:endParaRPr lang="en-US"/>
          </a:p>
        </p:txBody>
      </p:sp>
      <p:sp>
        <p:nvSpPr>
          <p:cNvPr id="20" name="Editable text 20"/>
          <p:cNvSpPr txBox="1"/>
          <p:nvPr/>
        </p:nvSpPr>
        <p:spPr>
          <a:xfrm>
            <a:off x="3046474" y="2449024"/>
            <a:ext cx="2176174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Experiment approval</a:t>
            </a:r>
            <a:endParaRPr lang="en-US"/>
          </a:p>
        </p:txBody>
      </p:sp>
      <p:sp>
        <p:nvSpPr>
          <p:cNvPr id="21" name="Editable text 21"/>
          <p:cNvSpPr txBox="1"/>
          <p:nvPr/>
        </p:nvSpPr>
        <p:spPr>
          <a:xfrm>
            <a:off x="6174830" y="1431337"/>
            <a:ext cx="2009489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Independent oracle</a:t>
            </a:r>
            <a:endParaRPr lang="en-US"/>
          </a:p>
        </p:txBody>
      </p:sp>
      <p:sp>
        <p:nvSpPr>
          <p:cNvPr id="22" name="Editable text 22"/>
          <p:cNvSpPr txBox="1"/>
          <p:nvPr/>
        </p:nvSpPr>
        <p:spPr>
          <a:xfrm>
            <a:off x="6174830" y="1685772"/>
            <a:ext cx="1777027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Certified bounds</a:t>
            </a:r>
            <a:endParaRPr lang="en-US"/>
          </a:p>
        </p:txBody>
      </p:sp>
      <p:sp>
        <p:nvSpPr>
          <p:cNvPr id="23" name="Editable text 23"/>
          <p:cNvSpPr txBox="1"/>
          <p:nvPr/>
        </p:nvSpPr>
        <p:spPr>
          <a:xfrm>
            <a:off x="6174830" y="1940181"/>
            <a:ext cx="2443132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Static/dynamic policies</a:t>
            </a:r>
            <a:endParaRPr lang="en-US"/>
          </a:p>
        </p:txBody>
      </p:sp>
      <p:sp>
        <p:nvSpPr>
          <p:cNvPr id="24" name="Editable text 24"/>
          <p:cNvSpPr txBox="1"/>
          <p:nvPr/>
        </p:nvSpPr>
        <p:spPr>
          <a:xfrm>
            <a:off x="6174830" y="2194616"/>
            <a:ext cx="2368357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Scaling and truncation</a:t>
            </a:r>
            <a:endParaRPr lang="en-US"/>
          </a:p>
        </p:txBody>
      </p:sp>
      <p:sp>
        <p:nvSpPr>
          <p:cNvPr id="25" name="Editable text 25"/>
          <p:cNvSpPr txBox="1"/>
          <p:nvPr/>
        </p:nvSpPr>
        <p:spPr>
          <a:xfrm>
            <a:off x="6174830" y="2449024"/>
            <a:ext cx="1781957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Reviewed results</a:t>
            </a:r>
            <a:endParaRPr lang="en-US"/>
          </a:p>
        </p:txBody>
      </p:sp>
      <p:sp>
        <p:nvSpPr>
          <p:cNvPr id="26" name="Editable text 26"/>
          <p:cNvSpPr txBox="1"/>
          <p:nvPr/>
        </p:nvSpPr>
        <p:spPr>
          <a:xfrm>
            <a:off x="9303160" y="1431337"/>
            <a:ext cx="1252758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Motivation</a:t>
            </a:r>
            <a:endParaRPr lang="en-US"/>
          </a:p>
        </p:txBody>
      </p:sp>
      <p:sp>
        <p:nvSpPr>
          <p:cNvPr id="27" name="Editable text 27"/>
          <p:cNvSpPr txBox="1"/>
          <p:nvPr/>
        </p:nvSpPr>
        <p:spPr>
          <a:xfrm>
            <a:off x="9303160" y="1685772"/>
            <a:ext cx="1643980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Adelman result</a:t>
            </a:r>
            <a:endParaRPr lang="en-US"/>
          </a:p>
        </p:txBody>
      </p:sp>
      <p:sp>
        <p:nvSpPr>
          <p:cNvPr id="28" name="Editable text 28"/>
          <p:cNvSpPr txBox="1"/>
          <p:nvPr/>
        </p:nvSpPr>
        <p:spPr>
          <a:xfrm>
            <a:off x="9303160" y="1940181"/>
            <a:ext cx="2361931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Measured comparisons</a:t>
            </a:r>
            <a:endParaRPr lang="en-US"/>
          </a:p>
        </p:txBody>
      </p:sp>
      <p:sp>
        <p:nvSpPr>
          <p:cNvPr id="29" name="Editable text 29"/>
          <p:cNvSpPr txBox="1"/>
          <p:nvPr/>
        </p:nvSpPr>
        <p:spPr>
          <a:xfrm>
            <a:off x="9303160" y="2194616"/>
            <a:ext cx="972093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Critique</a:t>
            </a:r>
            <a:endParaRPr lang="en-US"/>
          </a:p>
        </p:txBody>
      </p:sp>
      <p:sp>
        <p:nvSpPr>
          <p:cNvPr id="30" name="Editable text 30"/>
          <p:cNvSpPr txBox="1"/>
          <p:nvPr/>
        </p:nvSpPr>
        <p:spPr>
          <a:xfrm>
            <a:off x="9303160" y="2449024"/>
            <a:ext cx="1891010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Gated application</a:t>
            </a:r>
            <a:endParaRPr lang="en-US"/>
          </a:p>
        </p:txBody>
      </p:sp>
      <p:sp>
        <p:nvSpPr>
          <p:cNvPr id="31" name="Editable text 31"/>
          <p:cNvSpPr txBox="1"/>
          <p:nvPr/>
        </p:nvSpPr>
        <p:spPr>
          <a:xfrm>
            <a:off x="9303160" y="2703459"/>
            <a:ext cx="804335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• Limits</a:t>
            </a:r>
            <a:endParaRPr lang="en-US"/>
          </a:p>
        </p:txBody>
      </p:sp>
      <p:sp>
        <p:nvSpPr>
          <p:cNvPr id="32" name="Editable text 32"/>
          <p:cNvSpPr txBox="1"/>
          <p:nvPr/>
        </p:nvSpPr>
        <p:spPr>
          <a:xfrm>
            <a:off x="267822" y="3027149"/>
            <a:ext cx="10327519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Current gate: Theory drafted. Formal audit, Windows solver preflight, code, and numerical results pending.</a:t>
            </a:r>
            <a:endParaRPr lang="en-US"/>
          </a:p>
        </p:txBody>
      </p:sp>
      <p:sp>
        <p:nvSpPr>
          <p:cNvPr id="33" name="Editable text 33"/>
          <p:cNvSpPr txBox="1"/>
          <p:nvPr/>
        </p:nvSpPr>
        <p:spPr>
          <a:xfrm>
            <a:off x="267822" y="3647121"/>
            <a:ext cx="10710170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Final brief rule: every numerical chart must trace to a reviewed result. The optional application cannot displace</a:t>
            </a:r>
            <a:endParaRPr lang="en-US"/>
          </a:p>
        </p:txBody>
      </p:sp>
      <p:sp>
        <p:nvSpPr>
          <p:cNvPr id="34" name="Editable text 34"/>
          <p:cNvSpPr txBox="1"/>
          <p:nvPr/>
        </p:nvSpPr>
        <p:spPr>
          <a:xfrm>
            <a:off x="267822" y="3901556"/>
            <a:ext cx="4036077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instructor-required theory or computation.</a:t>
            </a:r>
            <a:endParaRPr lang="en-US"/>
          </a:p>
        </p:txBody>
      </p:sp>
      <p:sp>
        <p:nvSpPr>
          <p:cNvPr id="35" name="Editable text 35"/>
          <p:cNvSpPr txBox="1"/>
          <p:nvPr/>
        </p:nvSpPr>
        <p:spPr>
          <a:xfrm>
            <a:off x="267822" y="5252088"/>
            <a:ext cx="564508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Roadmap structure follows IPR 1 brief, p. 6; milestones follow the project phase plan.</a:t>
            </a:r>
            <a:endParaRPr lang="en-US"/>
          </a:p>
        </p:txBody>
      </p:sp>
      <p:sp>
        <p:nvSpPr>
          <p:cNvPr id="36" name="Editable text 36"/>
          <p:cNvSpPr txBox="1"/>
          <p:nvPr/>
        </p:nvSpPr>
        <p:spPr>
          <a:xfrm>
            <a:off x="213414" y="6612757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37" name="Editable text 37"/>
          <p:cNvSpPr txBox="1"/>
          <p:nvPr/>
        </p:nvSpPr>
        <p:spPr>
          <a:xfrm>
            <a:off x="6120637" y="6612757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38" name="Editable text 38"/>
          <p:cNvSpPr txBox="1"/>
          <p:nvPr/>
        </p:nvSpPr>
        <p:spPr>
          <a:xfrm>
            <a:off x="11694043" y="6612757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3/25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rectangle 2"/>
          <p:cNvSpPr/>
          <p:nvPr/>
        </p:nvSpPr>
        <p:spPr>
          <a:xfrm>
            <a:off x="267822" y="1284111"/>
            <a:ext cx="11656383" cy="2142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Editable rectangle 3"/>
          <p:cNvSpPr/>
          <p:nvPr/>
        </p:nvSpPr>
        <p:spPr>
          <a:xfrm>
            <a:off x="267822" y="2903463"/>
            <a:ext cx="11656383" cy="2142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" name="Editable text 4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28602" y="411209"/>
            <a:ext cx="5750940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Research scope and current progress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1011382"/>
            <a:ext cx="182551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 xml:space="preserve">Question groups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2" y="1390011"/>
            <a:ext cx="1745487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Theory (RQ1–3)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813602" y="1390011"/>
            <a:ext cx="9143004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What does the affine value approximation retain? Why is its bound stronger? How do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813303" y="1684607"/>
            <a:ext cx="425776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dual prices and column generation work?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67822" y="1979203"/>
            <a:ext cx="236325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Computation (RQ4–5)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813602" y="1979203"/>
            <a:ext cx="9143486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How do size and truncation affect cost and quality? When do dynamic prices improve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813303" y="2273800"/>
            <a:ext cx="1820207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expected reward?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7822" y="2568396"/>
            <a:ext cx="1943856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Application (RQ6)</a:t>
            </a:r>
            <a:endParaRPr lang="en-US"/>
          </a:p>
        </p:txBody>
      </p:sp>
      <p:sp>
        <p:nvSpPr>
          <p:cNvPr id="15" name="Editable text 15"/>
          <p:cNvSpPr txBox="1"/>
          <p:nvPr/>
        </p:nvSpPr>
        <p:spPr>
          <a:xfrm>
            <a:off x="2813361" y="2568396"/>
            <a:ext cx="7148463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Does the resource-allocation model transfer to surveillance missions?</a:t>
            </a:r>
            <a:endParaRPr lang="en-US"/>
          </a:p>
        </p:txBody>
      </p:sp>
      <p:sp>
        <p:nvSpPr>
          <p:cNvPr id="16" name="Editable text 16"/>
          <p:cNvSpPr txBox="1"/>
          <p:nvPr/>
        </p:nvSpPr>
        <p:spPr>
          <a:xfrm>
            <a:off x="267822" y="2958798"/>
            <a:ext cx="2693948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 xml:space="preserve">Formulations and proofs</a:t>
            </a:r>
            <a:endParaRPr lang="en-US"/>
          </a:p>
        </p:txBody>
      </p:sp>
      <p:sp>
        <p:nvSpPr>
          <p:cNvPr id="17" name="Editable text 17"/>
          <p:cNvSpPr txBox="1"/>
          <p:nvPr/>
        </p:nvSpPr>
        <p:spPr>
          <a:xfrm>
            <a:off x="3979232" y="2958798"/>
            <a:ext cx="5609956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Source analysis drafted; formal audit artifact pending.</a:t>
            </a:r>
            <a:endParaRPr lang="en-US"/>
          </a:p>
        </p:txBody>
      </p:sp>
      <p:sp>
        <p:nvSpPr>
          <p:cNvPr id="18" name="Editable text 18"/>
          <p:cNvSpPr txBox="1"/>
          <p:nvPr/>
        </p:nvSpPr>
        <p:spPr>
          <a:xfrm>
            <a:off x="267822" y="3253368"/>
            <a:ext cx="2955468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 xml:space="preserve">Implementations and tests</a:t>
            </a:r>
            <a:endParaRPr lang="en-US"/>
          </a:p>
        </p:txBody>
      </p:sp>
      <p:sp>
        <p:nvSpPr>
          <p:cNvPr id="19" name="Editable text 19"/>
          <p:cNvSpPr txBox="1"/>
          <p:nvPr/>
        </p:nvSpPr>
        <p:spPr>
          <a:xfrm>
            <a:off x="3979473" y="3253368"/>
            <a:ext cx="502690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Exact DP, LPs, policies, and assertions pending.</a:t>
            </a:r>
            <a:endParaRPr lang="en-US"/>
          </a:p>
        </p:txBody>
      </p:sp>
      <p:sp>
        <p:nvSpPr>
          <p:cNvPr id="20" name="Editable text 20"/>
          <p:cNvSpPr txBox="1"/>
          <p:nvPr/>
        </p:nvSpPr>
        <p:spPr>
          <a:xfrm>
            <a:off x="267822" y="3547964"/>
            <a:ext cx="3107077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 xml:space="preserve">Experiments and replication</a:t>
            </a:r>
            <a:endParaRPr lang="en-US"/>
          </a:p>
        </p:txBody>
      </p:sp>
      <p:sp>
        <p:nvSpPr>
          <p:cNvPr id="21" name="Editable text 21"/>
          <p:cNvSpPr txBox="1"/>
          <p:nvPr/>
        </p:nvSpPr>
        <p:spPr>
          <a:xfrm>
            <a:off x="3979232" y="3547964"/>
            <a:ext cx="671316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Design proposed; no project run or published-table reproduction.</a:t>
            </a:r>
            <a:endParaRPr lang="en-US"/>
          </a:p>
        </p:txBody>
      </p:sp>
      <p:sp>
        <p:nvSpPr>
          <p:cNvPr id="22" name="Editable text 22"/>
          <p:cNvSpPr txBox="1"/>
          <p:nvPr/>
        </p:nvSpPr>
        <p:spPr>
          <a:xfrm>
            <a:off x="267822" y="5208593"/>
            <a:ext cx="4083472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Six approved research questions and the project phase plan.</a:t>
            </a:r>
            <a:endParaRPr lang="en-US"/>
          </a:p>
        </p:txBody>
      </p:sp>
      <p:sp>
        <p:nvSpPr>
          <p:cNvPr id="23" name="Editable text 23"/>
          <p:cNvSpPr txBox="1"/>
          <p:nvPr/>
        </p:nvSpPr>
        <p:spPr>
          <a:xfrm>
            <a:off x="213414" y="6612758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24" name="Editable text 24"/>
          <p:cNvSpPr txBox="1"/>
          <p:nvPr/>
        </p:nvSpPr>
        <p:spPr>
          <a:xfrm>
            <a:off x="6120637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25" name="Editable text 25"/>
          <p:cNvSpPr txBox="1"/>
          <p:nvPr/>
        </p:nvSpPr>
        <p:spPr>
          <a:xfrm>
            <a:off x="11694043" y="6612758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4/25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6983093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Finite-horizon network revenue management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3" y="3221567"/>
            <a:ext cx="2731549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 xml:space="preserve">One-period MDP sketch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6329183" y="3221567"/>
            <a:ext cx="297475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 xml:space="preserve">Adelman’s acceptance rule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6329182" y="4417998"/>
            <a:ext cx="5524548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>
                <a:solidFill>
                  <a:srgbClr val="000000"/>
                </a:solidFill>
                <a:latin typeface="Arial"/>
              </a:rPr>
              <a:t xml:space="preserve">Revenue today must cover the next-period value of capacity used.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3" y="4735233"/>
            <a:ext cx="11475247" cy="207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Variables: t = 1, . . . , T period; i = 1, . . . , m resource; j = 1, . . . , n class; ci initial and ri remaining capacity; aij units used; Aj = (aij )i ; ptj arrival probability; uj accept indicator; fj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67822" y="4930233"/>
            <a:ext cx="2024734" cy="195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fare; vt (r) optimal future reward.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67822" y="5731334"/>
            <a:ext cx="374803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Adelman (2007), pp. 648–649, §2.1 and eqs. (1)–(2).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13414" y="6612757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6120637" y="6612757"/>
            <a:ext cx="1076616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11694043" y="6612757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5/25</a:t>
            </a:r>
            <a:endParaRPr lang="en-US"/>
          </a:p>
        </p:txBody>
      </p:sp>
      <p:graphicFrame>
        <p:nvGraphicFramePr>
          <p:cNvPr id="14" name="Editable table 14"/>
          <p:cNvGraphicFramePr/>
          <p:nvPr/>
        </p:nvGraphicFramePr>
        <p:xfrm>
          <a:off x="266129" y="940859"/>
          <a:ext cx="11658587" cy="1975803"/>
        </p:xfrm>
        <a:graphic>
          <a:graphicData uri="http://schemas.openxmlformats.org/drawingml/2006/table">
            <a:tbl>
              <a:tblPr firstRow="1"/>
              <a:tblGrid>
                <a:gridCol w="2448303"/>
                <a:gridCol w="9210284"/>
              </a:tblGrid>
              <a:tr h="395161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24" b="1">
                          <a:solidFill>
                            <a:srgbClr val="000000"/>
                          </a:solidFill>
                          <a:latin typeface="Arial"/>
                        </a:rPr>
                        <a:t>Model element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24" b="1">
                          <a:solidFill>
                            <a:srgbClr val="000000"/>
                          </a:solidFill>
                          <a:latin typeface="Arial"/>
                        </a:rPr>
                        <a:t>Definition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95161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State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Period t ∈ {1,…,T}; remaining capacity r = (r_1,…,r_m), with each r_i ∈ {0,1,…,c_i}.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95161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Arrival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Class j arrives with probability p_tj. No arrival has probability 1 − Σ_j p_tj. At most one request arrives per period.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95161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Action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u_j ∈ {0,1} indicates whether class j would be accepted; a_ij u_j ≤ r_i for each resource and class.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95159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Reward and next state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Accepting class j earns f_j and moves to r − A_j; otherwise capacity remains r.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5" name="Equation 15"/>
          <p:cNvPicPr/>
          <p:nvPr/>
        </p:nvPicPr>
        <p:blipFill>
          <a:blip r:embed="rId2"/>
          <a:stretch>
            <a:fillRect/>
          </a:stretch>
        </p:blipFill>
        <p:spPr>
          <a:xfrm>
            <a:off x="1599460" y="3534941"/>
            <a:ext cx="3252684" cy="1129031"/>
          </a:xfrm>
          <a:prstGeom prst="rect">
            <a:avLst/>
          </a:prstGeom>
        </p:spPr>
      </p:pic>
      <p:pic>
        <p:nvPicPr>
          <p:cNvPr id="16" name="Equation 16"/>
          <p:cNvPicPr/>
          <p:nvPr/>
        </p:nvPicPr>
        <p:blipFill>
          <a:blip r:embed="rId3"/>
          <a:stretch>
            <a:fillRect/>
          </a:stretch>
        </p:blipFill>
        <p:spPr>
          <a:xfrm>
            <a:off x="6303755" y="3669349"/>
            <a:ext cx="5633760" cy="645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456303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Exact MDP and its linear program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3" y="1071651"/>
            <a:ext cx="2000981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 xml:space="preserve">Bellman recursion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3" y="3192373"/>
            <a:ext cx="3159863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For a feasible arrival, accept if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6912034" y="1081785"/>
            <a:ext cx="194241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 xml:space="preserve">Bellman LP (D0)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6912036" y="3170706"/>
            <a:ext cx="435153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time-state pair. Complementary slackness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6912036" y="3465303"/>
            <a:ext cx="4679096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identifies optimal actions on occupied states.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67823" y="4084885"/>
            <a:ext cx="11295174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Variables: t period; T horizon; r remaining capacity; c initial capacity; Aj class-j resource use; ptj arrival probability; fj fare; vt (r) optimal value; ∆opportunity cost; [x]+ = max(0, x); u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67823" y="4250630"/>
            <a:ext cx="4642191" cy="2366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feasible action in U(r); qt expected reward; Rt+1 next state; E expectation.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67823" y="5406146"/>
            <a:ext cx="6306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Adelman (2007), p. 649, eqs. (1)–(3); occupancy dual independently derived in backup slide A2.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13414" y="6612757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6120638" y="6612757"/>
            <a:ext cx="1076616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5" name="Editable text 15"/>
          <p:cNvSpPr txBox="1"/>
          <p:nvPr/>
        </p:nvSpPr>
        <p:spPr>
          <a:xfrm>
            <a:off x="11694043" y="6612757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6/25</a:t>
            </a:r>
            <a:endParaRPr lang="en-US"/>
          </a:p>
        </p:txBody>
      </p:sp>
      <p:pic>
        <p:nvPicPr>
          <p:cNvPr id="16" name="Equation 16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2" y="1352806"/>
            <a:ext cx="5807438" cy="1701541"/>
          </a:xfrm>
          <a:prstGeom prst="rect">
            <a:avLst/>
          </a:prstGeom>
        </p:spPr>
      </p:pic>
      <p:pic>
        <p:nvPicPr>
          <p:cNvPr id="17" name="Equation 17"/>
          <p:cNvPicPr/>
          <p:nvPr/>
        </p:nvPicPr>
        <p:blipFill>
          <a:blip r:embed="rId3"/>
          <a:stretch>
            <a:fillRect/>
          </a:stretch>
        </p:blipFill>
        <p:spPr>
          <a:xfrm>
            <a:off x="6303755" y="1362940"/>
            <a:ext cx="5634319" cy="1767669"/>
          </a:xfrm>
          <a:prstGeom prst="rect">
            <a:avLst/>
          </a:prstGeom>
        </p:spPr>
      </p:pic>
      <p:pic>
        <p:nvPicPr>
          <p:cNvPr id="18" name="Equation 18"/>
          <p:cNvPicPr/>
          <p:nvPr/>
        </p:nvPicPr>
        <p:blipFill>
          <a:blip r:embed="rId4"/>
          <a:stretch>
            <a:fillRect/>
          </a:stretch>
        </p:blipFill>
        <p:spPr>
          <a:xfrm>
            <a:off x="1626342" y="3615586"/>
            <a:ext cx="3897844" cy="4301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655299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Fluid LP and affine approximate LP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3" y="1071651"/>
            <a:ext cx="3825903" cy="2820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 xml:space="preserve">Fluid LP: expected acceptances Yj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3497588"/>
            <a:ext cx="4264271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This solve aggregates demand over time.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3" y="3963876"/>
            <a:ext cx="11482219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Within one affine solve, bid prices vary by period. Re-solving can update the trajectory after capacity changes.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3" y="4307383"/>
            <a:ext cx="11673621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Variables: Yj expected acceptances; A = (aij ) resource-use matrix; c initial capacity; fj fare; ptj arrival probability; λi fluid resource dual; ˆvt affine value; θt intercept; bt resource-price vector; r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67823" y="4494936"/>
            <a:ext cx="2962994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remaining capacity; uj accept indicator; t period.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67823" y="5530822"/>
            <a:ext cx="4520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Adelman (2007), p. 650, eqs. (4)–(6), and p. 652, eqs. (14)–(17).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13414" y="6612756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6120638" y="6612756"/>
            <a:ext cx="1076616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11694043" y="6612756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7/25</a:t>
            </a:r>
            <a:endParaRPr lang="en-US"/>
          </a:p>
        </p:txBody>
      </p:sp>
      <p:pic>
        <p:nvPicPr>
          <p:cNvPr id="14" name="Equation 14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1411288"/>
            <a:ext cx="5404213" cy="1860935"/>
          </a:xfrm>
          <a:prstGeom prst="rect">
            <a:avLst/>
          </a:prstGeom>
        </p:spPr>
      </p:pic>
      <p:pic>
        <p:nvPicPr>
          <p:cNvPr id="15" name="Equation 15"/>
          <p:cNvPicPr/>
          <p:nvPr/>
        </p:nvPicPr>
        <p:blipFill>
          <a:blip r:embed="rId3"/>
          <a:stretch>
            <a:fillRect/>
          </a:stretch>
        </p:blipFill>
        <p:spPr>
          <a:xfrm>
            <a:off x="5846766" y="1058210"/>
            <a:ext cx="6075261" cy="2198691"/>
          </a:xfrm>
          <a:prstGeom prst="rect">
            <a:avLst/>
          </a:prstGeom>
        </p:spPr>
      </p:pic>
      <p:pic>
        <p:nvPicPr>
          <p:cNvPr id="16" name="Equation 16"/>
          <p:cNvPicPr/>
          <p:nvPr/>
        </p:nvPicPr>
        <p:blipFill>
          <a:blip r:embed="rId4"/>
          <a:stretch>
            <a:fillRect/>
          </a:stretch>
        </p:blipFill>
        <p:spPr>
          <a:xfrm>
            <a:off x="5846766" y="3427414"/>
            <a:ext cx="6075261" cy="4838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4554654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Two upper-bound arguments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4452670"/>
            <a:ext cx="7696326" cy="325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6F70"/>
                </a:solidFill>
                <a:latin typeface="Arial"/>
              </a:rPr>
              <a:t xml:space="preserve">⋆Decision: Is this theorem and proof depth sufficient for the final brief?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4854776"/>
            <a:ext cx="11501265" cy="2614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Variables: zLP fluid upper bound; zP1 affine-LP upper bound; v1(c) exact initial MDP value; Xt,r,u P1 state-action weight; Yj expected class-j acceptance; ptj arrival probability; uj accept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5096362"/>
            <a:ext cx="4390024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indicator; A resource-use matrix; bt,i resource-i slope; ci initial capacity.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1" y="5831549"/>
            <a:ext cx="44747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Adelman (2007), pp. 652–655, Theorems 1–2 and eqs. (22)–(29).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13413" y="6612758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6120636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11694042" y="6612758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8/25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806451" y="1908599"/>
            <a:ext cx="11133886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 xml:space="preserve">1. Affine LP versus exact MDP. Every feasible D1 function satisfies the Bellman inequalities.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806451" y="2204298"/>
            <a:ext cx="1113388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 xml:space="preserve">Backward induction bounds the exact value above. Restricting the value family cannot lower the minimum.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806451" y="2822576"/>
            <a:ext cx="1113388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 xml:space="preserve">2. Fluid LP versus affine LP. Map feasible P1 weights X to expected class acceptances Y.</a:t>
            </a:r>
            <a:endParaRPr lang="en-US"/>
          </a:p>
        </p:txBody>
      </p:sp>
      <p:sp>
        <p:nvSpPr>
          <p:cNvPr id="15" name="Editable text 15"/>
          <p:cNvSpPr txBox="1"/>
          <p:nvPr/>
        </p:nvSpPr>
        <p:spPr>
          <a:xfrm>
            <a:off x="806451" y="3145156"/>
            <a:ext cx="1113388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 xml:space="preserve">P1's moment equations give each class acceptance ≤ expected arrivals and AY ≤ c. The objectives agree.</a:t>
            </a:r>
            <a:endParaRPr lang="en-US"/>
          </a:p>
        </p:txBody>
      </p:sp>
      <p:sp>
        <p:nvSpPr>
          <p:cNvPr id="16" name="Editable text 16"/>
          <p:cNvSpPr txBox="1"/>
          <p:nvPr/>
        </p:nvSpPr>
        <p:spPr>
          <a:xfrm>
            <a:off x="268817" y="3790317"/>
            <a:ext cx="1167152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 xml:space="preserve">Structural result: if every c_i &gt; 0 and every p_tj &gt; 0, a nonincreasing optimal price trajectory exists.</a:t>
            </a:r>
            <a:endParaRPr lang="en-US"/>
          </a:p>
        </p:txBody>
      </p:sp>
      <p:sp>
        <p:nvSpPr>
          <p:cNvPr id="17" name="Editable text 17"/>
          <p:cNvSpPr txBox="1"/>
          <p:nvPr/>
        </p:nvSpPr>
        <p:spPr>
          <a:xfrm>
            <a:off x="268817" y="4112897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 xml:space="preserve">An arbitrary optimal solver output need not be monotone.</a:t>
            </a:r>
            <a:endParaRPr lang="en-US"/>
          </a:p>
        </p:txBody>
      </p:sp>
      <p:pic>
        <p:nvPicPr>
          <p:cNvPr id="18" name="Equation 18"/>
          <p:cNvPicPr/>
          <p:nvPr/>
        </p:nvPicPr>
        <p:blipFill>
          <a:blip r:embed="rId2"/>
          <a:stretch>
            <a:fillRect/>
          </a:stretch>
        </p:blipFill>
        <p:spPr>
          <a:xfrm>
            <a:off x="3427415" y="954300"/>
            <a:ext cx="5295692" cy="8333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rectangle 2"/>
          <p:cNvSpPr/>
          <p:nvPr/>
        </p:nvSpPr>
        <p:spPr>
          <a:xfrm>
            <a:off x="2702416" y="3510451"/>
            <a:ext cx="6787195" cy="2142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Editable text 3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28602" y="411209"/>
            <a:ext cx="6805308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Published example and planned verification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1011382"/>
            <a:ext cx="8845309" cy="2995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Example 1: one resource, one seat, one class, f = a = 1, T = 2, and p1 = p2 = 0.5.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3751835"/>
            <a:ext cx="1148222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Verification gate: independently compare exact DP, exact LP primal/dual, fluid LP, and full affine LP on this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2" y="4046431"/>
            <a:ext cx="11319765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case and a two-resource network. Test zero demand, zero capacity, terminal decisions, and infeasible arrivals.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67822" y="4389912"/>
            <a:ext cx="10858336" cy="195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Variables: T horizon; f fare; a resource use; pt arrival probability; vt (r) exact value at period t with remaining capacity r; P1 affine approximation; fluid LP deterministic relaxation.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67822" y="5461173"/>
            <a:ext cx="541797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Adelman (2007), p. 653, Example 1. Project-generated solver results are pending.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13414" y="6612758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6120637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11694043" y="6612758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9/25</a:t>
            </a:r>
            <a:endParaRPr lang="en-US"/>
          </a:p>
        </p:txBody>
      </p:sp>
      <p:graphicFrame>
        <p:nvGraphicFramePr>
          <p:cNvPr id="14" name="Editable table 14"/>
          <p:cNvGraphicFramePr/>
          <p:nvPr/>
        </p:nvGraphicFramePr>
        <p:xfrm>
          <a:off x="2688168" y="2043008"/>
          <a:ext cx="6801066" cy="1451611"/>
        </p:xfrm>
        <a:graphic>
          <a:graphicData uri="http://schemas.openxmlformats.org/drawingml/2006/table">
            <a:tbl>
              <a:tblPr firstRow="1"/>
              <a:tblGrid>
                <a:gridCol w="1768277"/>
                <a:gridCol w="816128"/>
                <a:gridCol w="4216661"/>
              </a:tblGrid>
              <a:tr h="362903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03" b="1">
                          <a:solidFill>
                            <a:srgbClr val="000000"/>
                          </a:solidFill>
                          <a:latin typeface="Arial"/>
                        </a:rPr>
                        <a:t>Formulation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03" b="1">
                          <a:solidFill>
                            <a:srgbClr val="000000"/>
                          </a:solidFill>
                          <a:latin typeface="Arial"/>
                        </a:rPr>
                        <a:t>Value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03" b="1">
                          <a:solidFill>
                            <a:srgbClr val="000000"/>
                          </a:solidFill>
                          <a:latin typeface="Arial"/>
                        </a:rPr>
                        <a:t>Evidence status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2903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Exact MDP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0.75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Hand calculation; published example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2903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Affine LP (P1)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0.75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Published example; reproduction 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2902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Fluid LP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1.00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Hand calculation; published example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5" name="Equation 15"/>
          <p:cNvPicPr/>
          <p:nvPr/>
        </p:nvPicPr>
        <p:blipFill>
          <a:blip r:embed="rId2"/>
          <a:stretch>
            <a:fillRect/>
          </a:stretch>
        </p:blipFill>
        <p:spPr>
          <a:xfrm>
            <a:off x="2405911" y="1330643"/>
            <a:ext cx="7338700" cy="6182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856994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Column generation and its certificate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1011382"/>
            <a:ext cx="10842742" cy="2820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Primary: start (P1) with feasible no-acceptance columns. Solve the restricted primary and obtain θt, bt.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4" y="2850385"/>
            <a:ext cx="1141907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Add a column when its reduced profit is positive, then re-solve. Adelman formulates the period problem as an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4" y="3144955"/>
            <a:ext cx="1742354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integer program.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4" y="3600249"/>
            <a:ext cx="403987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 xml:space="preserve">Stopping certificate (Proposition 3):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67823" y="5144629"/>
            <a:ext cx="6397912" cy="30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ZΛ alone does not certify an upper bound on the exact MDP.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67823" y="5510438"/>
            <a:ext cx="10068322" cy="325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6F70"/>
                </a:solidFill>
                <a:latin typeface="Arial"/>
              </a:rPr>
              <a:t xml:space="preserve">⋆Decision: How much of the pricing and column-generation algorithm must IPR 3 implement?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67823" y="5910808"/>
            <a:ext cx="8025831" cy="2631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Variables: t, T period/horizon; (r, u) state/action; ptj , fj , Aj arrival probability, fare, resource use; bt , θt slopes/intercept; ρt , ρ∗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8163350" y="6031038"/>
            <a:ext cx="831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i="1">
                <a:solidFill>
                  <a:srgbClr val="5A666F"/>
                </a:solidFill>
                <a:latin typeface="Arial"/>
              </a:rPr>
              <a:t xml:space="preserve">t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8322758" y="5912544"/>
            <a:ext cx="3407690" cy="2665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reduced profit/period maximum; ZΛ, zP1 restricted/full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7823" y="6154129"/>
            <a:ext cx="1140088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primary objectives.</a:t>
            </a:r>
            <a:endParaRPr lang="en-US"/>
          </a:p>
        </p:txBody>
      </p:sp>
      <p:sp>
        <p:nvSpPr>
          <p:cNvPr id="15" name="Editable text 15"/>
          <p:cNvSpPr txBox="1"/>
          <p:nvPr/>
        </p:nvSpPr>
        <p:spPr>
          <a:xfrm>
            <a:off x="267823" y="6343269"/>
            <a:ext cx="560785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Adelman (2007), pp. 650–651, Proposition 3; pp. 655–657, §4.4 and eqs. (33)–(36).</a:t>
            </a:r>
            <a:endParaRPr lang="en-US"/>
          </a:p>
        </p:txBody>
      </p:sp>
      <p:sp>
        <p:nvSpPr>
          <p:cNvPr id="16" name="Editable text 16"/>
          <p:cNvSpPr txBox="1"/>
          <p:nvPr/>
        </p:nvSpPr>
        <p:spPr>
          <a:xfrm>
            <a:off x="213414" y="6612758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17" name="Editable text 17"/>
          <p:cNvSpPr txBox="1"/>
          <p:nvPr/>
        </p:nvSpPr>
        <p:spPr>
          <a:xfrm>
            <a:off x="6085073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8" name="Editable text 18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10/25</a:t>
            </a:r>
            <a:endParaRPr lang="en-US"/>
          </a:p>
        </p:txBody>
      </p:sp>
      <p:pic>
        <p:nvPicPr>
          <p:cNvPr id="19" name="Equation 19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2" y="1453236"/>
            <a:ext cx="10861195" cy="1248373"/>
          </a:xfrm>
          <a:prstGeom prst="rect">
            <a:avLst/>
          </a:prstGeom>
        </p:spPr>
      </p:pic>
      <p:pic>
        <p:nvPicPr>
          <p:cNvPr id="20" name="Equation 20"/>
          <p:cNvPicPr/>
          <p:nvPr/>
        </p:nvPicPr>
        <p:blipFill>
          <a:blip r:embed="rId3"/>
          <a:stretch>
            <a:fillRect/>
          </a:stretch>
        </p:blipFill>
        <p:spPr>
          <a:xfrm>
            <a:off x="2325266" y="4018811"/>
            <a:ext cx="7580635" cy="9141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6017810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Proposed experiment design for IPR 3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3750169"/>
            <a:ext cx="10846135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Truncation study: record which state, column, or horizon restriction is used and whether a valid pricing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4044764"/>
            <a:ext cx="199833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certificate survives.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4410574"/>
            <a:ext cx="8662864" cy="325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6F70"/>
                </a:solidFill>
                <a:latin typeface="Arial"/>
              </a:rPr>
              <a:t xml:space="preserve">⋆Decision: Which published result and comparison protocol should IPR 3 target?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2" y="5539668"/>
            <a:ext cx="705684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Proposed design; no project experiment has run. Adelman (2007), pp. 657–660, supplies comparison context.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13414" y="6612758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6085072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11/25</a:t>
            </a:r>
            <a:endParaRPr lang="en-US"/>
          </a:p>
        </p:txBody>
      </p:sp>
      <p:graphicFrame>
        <p:nvGraphicFramePr>
          <p:cNvPr id="12" name="Editable table 12"/>
          <p:cNvGraphicFramePr/>
          <p:nvPr/>
        </p:nvGraphicFramePr>
        <p:xfrm>
          <a:off x="266129" y="940859"/>
          <a:ext cx="11658587" cy="2553759"/>
        </p:xfrm>
        <a:graphic>
          <a:graphicData uri="http://schemas.openxmlformats.org/drawingml/2006/table">
            <a:tbl>
              <a:tblPr firstRow="1"/>
              <a:tblGrid>
                <a:gridCol w="2681475"/>
                <a:gridCol w="8977112"/>
              </a:tblGrid>
              <a:tr h="638440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Factors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Resources, horizon, load, fare spread, arrival timing, and single- versus multi-resource products. Start with exactly enumerable cases.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638440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Comparators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Exact DP where tractable; fluid and certified affine bounds; fixed static and dynamic policies; separately labeled re-solving variants; proposed first-come feasible baseline.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638440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Outcomes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Bound gaps, exact or estimated policy reward, paired dynamic-minus-static difference, runtime, memory, iterations, and generated columns.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638439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Inference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Common arrival paths and predeclared seeds; report 95% intervals for each policy mean and paired difference. Use absolute gaps when exact value is zero.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6647577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Critical appraisal for the final presentation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3299309"/>
            <a:ext cx="1162009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Final evidence rule: compare bounds with exact values where possible; compare policies using exact evaluation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3593905"/>
            <a:ext cx="8681425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or paired simulation. Label published results separately from project measurements.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5105018"/>
            <a:ext cx="6337775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Reviewer-style questions derived from Adelman (2007), §§2–5; empirical answers remain pending.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13414" y="6612758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6085072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12/25</a:t>
            </a:r>
            <a:endParaRPr lang="en-US"/>
          </a:p>
        </p:txBody>
      </p:sp>
      <p:graphicFrame>
        <p:nvGraphicFramePr>
          <p:cNvPr id="11" name="Editable table 11"/>
          <p:cNvGraphicFramePr/>
          <p:nvPr/>
        </p:nvGraphicFramePr>
        <p:xfrm>
          <a:off x="266129" y="940859"/>
          <a:ext cx="11658587" cy="2069889"/>
        </p:xfrm>
        <a:graphic>
          <a:graphicData uri="http://schemas.openxmlformats.org/drawingml/2006/table">
            <a:tbl>
              <a:tblPr firstRow="1"/>
              <a:tblGrid>
                <a:gridCol w="3497576"/>
                <a:gridCol w="8161011"/>
              </a:tblGrid>
              <a:tr h="344982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Model assumption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Question to test or disclose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44982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Known exogenous arrivals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How sensitive are policies to misspecified probabilities?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44982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Nonreplenishing capacity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Does the intended application have reusable assets?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44982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Affine value function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How much state dependence is lost within one solve?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44982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Algorithm and scaling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Which claims are proved, certified, or only observed on test instances?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44979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Published policy comparison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How much gain comes from time prices, lookahead, or re-solving?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rectangle 2"/>
          <p:cNvSpPr/>
          <p:nvPr/>
        </p:nvSpPr>
        <p:spPr>
          <a:xfrm>
            <a:off x="267822" y="1873303"/>
            <a:ext cx="11656383" cy="2142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Editable text 3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28602" y="411209"/>
            <a:ext cx="8526076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Adelman and individualized pricing: a research lineage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1011382"/>
            <a:ext cx="2305645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 xml:space="preserve">Distinct mechanisms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1305978"/>
            <a:ext cx="10968098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Adelman (2007) estimates an internal capacity opportunity cost. Personalized pricing also models how an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2" y="1600575"/>
            <a:ext cx="4041316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individual responds to an offered price.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67822" y="4390651"/>
            <a:ext cx="11418345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Evidence boundary: these are reading leads, not yet source-checked for this project. A citation trail does not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67822" y="4685247"/>
            <a:ext cx="6213736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establish that Adelman created surveillance-pricing systems.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67822" y="5051057"/>
            <a:ext cx="8861234" cy="325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6F70"/>
                </a:solidFill>
                <a:latin typeface="Arial"/>
              </a:rPr>
              <a:t xml:space="preserve">⋆Decision: Is a conceptual, source-checked connection sufficient for the final brief?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67822" y="5859909"/>
            <a:ext cx="7631976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Adelman (2007), pp. 647–648; subsequent works and FTC item supplied by the researcher, pending source verification.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13414" y="6612758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6085072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5" name="Editable text 15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13/25</a:t>
            </a:r>
            <a:endParaRPr lang="en-US"/>
          </a:p>
        </p:txBody>
      </p:sp>
      <p:graphicFrame>
        <p:nvGraphicFramePr>
          <p:cNvPr id="16" name="Editable table 16"/>
          <p:cNvGraphicFramePr/>
          <p:nvPr/>
        </p:nvGraphicFramePr>
        <p:xfrm>
          <a:off x="266129" y="1908599"/>
          <a:ext cx="11658587" cy="2069889"/>
        </p:xfrm>
        <a:graphic>
          <a:graphicData uri="http://schemas.openxmlformats.org/drawingml/2006/table">
            <a:tbl>
              <a:tblPr firstRow="1"/>
              <a:tblGrid>
                <a:gridCol w="3147818"/>
                <a:gridCol w="8510769"/>
              </a:tblGrid>
              <a:tr h="413978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61" b="1">
                          <a:solidFill>
                            <a:srgbClr val="000000"/>
                          </a:solidFill>
                          <a:latin typeface="Arial"/>
                        </a:rPr>
                        <a:t>Research thread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61" b="1">
                          <a:solidFill>
                            <a:srgbClr val="000000"/>
                          </a:solidFill>
                          <a:latin typeface="Arial"/>
                        </a:rPr>
                        <a:t>Candidate references supplied for verification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13978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Customer choice and</a:t>
                      </a:r>
                      <a:br/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related methods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Zhang and Adelman (2009); Barz et al. (2023); Hausenblas et al. (2025)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13978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Individualized pricing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Jahandideh et al. (2020); Lei et al. (2023/2025)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13978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Parallel personalization line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Acquisti and Varian (2005); Aydin and Ziya (2009); Ban and Keskin (2021)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13977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Policy context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FTC inquiry (January 2025): consumer data in individualized pricing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694636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IPR 3 gates and decisions requested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4630798"/>
            <a:ext cx="34368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ISE 631 course prompt, p. 2; project phase plan.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13414" y="6612758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6085072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14/25</a:t>
            </a:r>
            <a:endParaRPr lang="en-US"/>
          </a:p>
        </p:txBody>
      </p:sp>
      <p:graphicFrame>
        <p:nvGraphicFramePr>
          <p:cNvPr id="9" name="Editable table 9"/>
          <p:cNvGraphicFramePr/>
          <p:nvPr/>
        </p:nvGraphicFramePr>
        <p:xfrm>
          <a:off x="266129" y="940859"/>
          <a:ext cx="11658587" cy="2016126"/>
        </p:xfrm>
        <a:graphic>
          <a:graphicData uri="http://schemas.openxmlformats.org/drawingml/2006/table">
            <a:tbl>
              <a:tblPr firstRow="1"/>
              <a:tblGrid>
                <a:gridCol w="2914647"/>
                <a:gridCol w="8743940"/>
              </a:tblGrid>
              <a:tr h="403225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Next evidence gate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Source-linked proof notes; exact DP and LP agreement; fluid/static tests; full small affine LP; pricing versus exhaustive search; paired policy comparisons.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03225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★ Proof (8)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Is the theorem and LP treatment sufficient for the final brief?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03225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★ Algorithm (10)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How much pricing and column generation must IPR 3 implement?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03225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★ Evidence (11)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Which published result and comparison protocol should IPR 3 target?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03226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★ Application (13)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Is a conceptual, source-checked connection sufficient?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6086841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A1. Full transition and Bellman model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1" y="3984118"/>
            <a:ext cx="8695887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Initial state is c in period 1. No discount factor applies to this finite-horizon model.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1" y="4313228"/>
            <a:ext cx="11502484" cy="2631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b="1">
                <a:solidFill>
                  <a:srgbClr val="5A666F"/>
                </a:solidFill>
                <a:latin typeface="Arial"/>
              </a:rPr>
              <a:t xml:space="preserve">Variables: t, T period and horizon; r, r′ current and next resource vectors; c initial vector; i, j, n resource, class, class count; aij , Aj class resource use; uj , U(r) accept indicator and feasible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0" y="4563996"/>
            <a:ext cx="7224627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actions; ptj , pt0 arrival/no-arrival probabilities; fj fare; qt expected reward; Pt transition; vt optimal value; 1 indicator.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1" y="5565339"/>
            <a:ext cx="4532189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Adelman (2007), pp. 648–649, eq. (1); transition notation derived.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13412" y="6612729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6085071" y="6612729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11622913" y="6612729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15/25</a:t>
            </a:r>
            <a:endParaRPr lang="en-US"/>
          </a:p>
        </p:txBody>
      </p:sp>
      <p:pic>
        <p:nvPicPr>
          <p:cNvPr id="12" name="Equation 12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895549"/>
            <a:ext cx="11667646" cy="1483480"/>
          </a:xfrm>
          <a:prstGeom prst="rect">
            <a:avLst/>
          </a:prstGeom>
        </p:spPr>
      </p:pic>
      <p:pic>
        <p:nvPicPr>
          <p:cNvPr id="13" name="Equation 13"/>
          <p:cNvPicPr/>
          <p:nvPr/>
        </p:nvPicPr>
        <p:blipFill>
          <a:blip r:embed="rId3"/>
          <a:stretch>
            <a:fillRect/>
          </a:stretch>
        </p:blipFill>
        <p:spPr>
          <a:xfrm>
            <a:off x="254381" y="2436535"/>
            <a:ext cx="11667646" cy="14209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9005826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A2. Exact finite-horizon Bellman LP and occupancy dual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3" y="4169648"/>
            <a:ext cx="9078170" cy="261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Strong duality gives the exact initial value. Positive xt(r, u) makes its Bellman inequality tight.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3" y="4482451"/>
            <a:ext cx="11323510" cy="1969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Variables: t, T period/horizon; r, s states in Rt ; u ∈U(r) feasible action; c initial state; qt expected reward; Pt transition probability; vt free value variable; xt nonnegative state-action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4" y="4644885"/>
            <a:ext cx="2330048" cy="2125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occupancy; vT+1 = 0 terminal value.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4" y="5602303"/>
            <a:ext cx="591128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Adelman (2007), p. 649, eq. (3); dual independently derived, not labeled P0 in the paper.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13416" y="6612758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6085074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11622916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16/25</a:t>
            </a:r>
            <a:endParaRPr lang="en-US"/>
          </a:p>
        </p:txBody>
      </p:sp>
      <p:pic>
        <p:nvPicPr>
          <p:cNvPr id="12" name="Equation 12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931905"/>
            <a:ext cx="11667646" cy="1178307"/>
          </a:xfrm>
          <a:prstGeom prst="rect">
            <a:avLst/>
          </a:prstGeom>
        </p:spPr>
      </p:pic>
      <p:pic>
        <p:nvPicPr>
          <p:cNvPr id="13" name="Equation 13"/>
          <p:cNvPicPr/>
          <p:nvPr/>
        </p:nvPicPr>
        <p:blipFill>
          <a:blip r:embed="rId3"/>
          <a:stretch>
            <a:fillRect/>
          </a:stretch>
        </p:blipFill>
        <p:spPr>
          <a:xfrm>
            <a:off x="254383" y="2186498"/>
            <a:ext cx="11667645" cy="19667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833085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A3. Instructor’s discounted MDP LP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1008258"/>
            <a:ext cx="8146331" cy="2759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For finite states S, actions A(s), discount 0 ≤γ &lt; 1, and initial weight ν ≥0: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1" y="5201482"/>
            <a:ext cx="11688922" cy="2214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Variables: S state set; A(s) feasible actions; s, s′ states; a action; γ discount; ν initial state weights; V , V ∗candidate/optimal values; P transition probability; r(s, a) reward; x(s, a) discounted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5417948"/>
            <a:ext cx="678515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occupancy.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2" y="5978888"/>
            <a:ext cx="5022285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ISE 631 instructor prompt, p. 1; dual and full-support qualification derived.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13413" y="6612758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6085072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17/25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68817" y="4543004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 xml:space="preserve">x counts discounted visits weighted by the initial-state measure. Complementary slackness identifies optimal actions.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68817" y="4838702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 xml:space="preserve">With positive initial weight on every state, the minimizing value vector equals the optimal value everywhere.</a:t>
            </a:r>
            <a:endParaRPr lang="en-US"/>
          </a:p>
        </p:txBody>
      </p:sp>
      <p:pic>
        <p:nvPicPr>
          <p:cNvPr id="14" name="Equation 14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1276880"/>
            <a:ext cx="11667646" cy="3198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7086831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A4. Fluid primal, dual, and policy distinction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3" y="4124384"/>
            <a:ext cx="2348750" cy="4669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b="1">
                <a:solidFill>
                  <a:srgbClr val="5A666F"/>
                </a:solidFill>
                <a:latin typeface="Arial"/>
              </a:rPr>
              <a:t xml:space="preserve">Variables: t period; j class; dj = ∑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584701" y="4317680"/>
            <a:ext cx="831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i="1">
                <a:solidFill>
                  <a:srgbClr val="5A666F"/>
                </a:solidFill>
                <a:latin typeface="Arial"/>
              </a:rPr>
              <a:t xml:space="preserve">t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92147" y="4203863"/>
            <a:ext cx="8295553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ptj expected demand; Yj expected acceptances; fj fare; A = (aij ) resource use; c initial capacity; λi resource dual; µj demand-cap dual.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3" y="5408296"/>
            <a:ext cx="396255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Adelman (2007), p. 650, eqs. (4)–(6) and displayed dual.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13414" y="6612757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6085073" y="6612757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11622914" y="6612757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18/25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68817" y="3225801"/>
            <a:ext cx="1167152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 xml:space="preserve">Each capacity shadow price is nonnegative. Complementary slackness characterizes primal-dual optima.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68817" y="3548382"/>
            <a:ext cx="1167152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 xml:space="preserve">An online rule accepts when fare covers the capacity shadow cost; its policy performance needs separate evaluation.</a:t>
            </a:r>
            <a:endParaRPr lang="en-US"/>
          </a:p>
        </p:txBody>
      </p:sp>
      <p:pic>
        <p:nvPicPr>
          <p:cNvPr id="14" name="Equation 14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975411"/>
            <a:ext cx="11667646" cy="1349855"/>
          </a:xfrm>
          <a:prstGeom prst="rect">
            <a:avLst/>
          </a:prstGeom>
        </p:spPr>
      </p:pic>
      <p:pic>
        <p:nvPicPr>
          <p:cNvPr id="15" name="Equation 15"/>
          <p:cNvPicPr/>
          <p:nvPr/>
        </p:nvPicPr>
        <p:blipFill>
          <a:blip r:embed="rId3"/>
          <a:stretch>
            <a:fillRect/>
          </a:stretch>
        </p:blipFill>
        <p:spPr>
          <a:xfrm>
            <a:off x="254382" y="2408423"/>
            <a:ext cx="11667646" cy="7501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137757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A5. Full affine Bellman LP (D1)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4" y="3544443"/>
            <a:ext cx="10915553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Theorem 2 permits a nonnegative monotone optimal selection only under its stated positive-capacity and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4" y="3839039"/>
            <a:ext cx="2941488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positive-arrival assumptions.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4" y="4180810"/>
            <a:ext cx="11542856" cy="2091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Variables: t = 1, . . . , T period; r ∈Rt remaining state; c initial capacity; u ∈U(r) feasible acceptance vector; θt free intercept; bt free resource slopes; ptj arrival probability; fj fare; Aj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4" y="4370099"/>
            <a:ext cx="1214138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class-j resource use.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67824" y="5451254"/>
            <a:ext cx="487110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Adelman (2007), p. 652, eqs. (14), (16)–(17); Theorem 2, pp. 654–655.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13416" y="6612757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6085074" y="6612757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11622916" y="6612757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19/25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68817" y="940859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36">
                <a:solidFill>
                  <a:srgbClr val="000000"/>
                </a:solidFill>
                <a:latin typeface="Arial"/>
              </a:rPr>
              <a:t xml:space="preserve">At period 1, use only initial capacity c; in later periods use the full remaining-capacity state set.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8817" y="1236557"/>
            <a:ext cx="11671520" cy="3005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36">
                <a:solidFill>
                  <a:srgbClr val="000000"/>
                </a:solidFill>
                <a:latin typeface="Arial"/>
              </a:rPr>
              <a:t xml:space="preserve">Terminal intercept and slopes are zero. Earlier affine coefficients are free. The program is</a:t>
            </a:r>
            <a:endParaRPr lang="en-US"/>
          </a:p>
        </p:txBody>
      </p:sp>
      <p:pic>
        <p:nvPicPr>
          <p:cNvPr id="15" name="Equation 15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3" y="1532063"/>
            <a:ext cx="11667645" cy="194911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801846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A6. Affine dual and the bound proof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1" y="4977222"/>
            <a:ext cx="11592120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Variables: t, T period/horizon; i, j resource/class; r, s remaining states; uj accept indicator; Xt (r, u) P1 weight; qt expected reward; ptj arrival probability; aij resource use; ci initial capacity;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1" y="5164776"/>
            <a:ext cx="4562888" cy="26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Yj , dj expected acceptances/arrivals; zP1, v1(c) affine bound/exact value.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1" y="5892759"/>
            <a:ext cx="4054815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Adelman (2007), pp. 652–653, eqs. (18)–(24), Theorem 1.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13412" y="6612758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6085071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11622913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20/25</a:t>
            </a:r>
            <a:endParaRPr lang="en-US"/>
          </a:p>
        </p:txBody>
      </p:sp>
      <p:pic>
        <p:nvPicPr>
          <p:cNvPr id="11" name="Equation 11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927418"/>
            <a:ext cx="11667646" cy="1290321"/>
          </a:xfrm>
          <a:prstGeom prst="rect">
            <a:avLst/>
          </a:prstGeom>
        </p:spPr>
      </p:pic>
      <p:pic>
        <p:nvPicPr>
          <p:cNvPr id="12" name="Equation 12"/>
          <p:cNvPicPr/>
          <p:nvPr/>
        </p:nvPicPr>
        <p:blipFill>
          <a:blip r:embed="rId3"/>
          <a:stretch>
            <a:fillRect/>
          </a:stretch>
        </p:blipFill>
        <p:spPr>
          <a:xfrm>
            <a:off x="255376" y="2217738"/>
            <a:ext cx="11666651" cy="967740"/>
          </a:xfrm>
          <a:prstGeom prst="rect">
            <a:avLst/>
          </a:prstGeom>
        </p:spPr>
      </p:pic>
      <p:pic>
        <p:nvPicPr>
          <p:cNvPr id="13" name="Equation 13"/>
          <p:cNvPicPr/>
          <p:nvPr/>
        </p:nvPicPr>
        <p:blipFill>
          <a:blip r:embed="rId4"/>
          <a:stretch>
            <a:fillRect/>
          </a:stretch>
        </p:blipFill>
        <p:spPr>
          <a:xfrm>
            <a:off x="254379" y="3212361"/>
            <a:ext cx="11667648" cy="172042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6744375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A7. Monotone prices: scope of Theorem 2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1011382"/>
            <a:ext cx="7883464" cy="2995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 xml:space="preserve">Under ci &gt; 0 and ptj &gt; 0 for every i, t, j, an optimal D1 solution exists with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1" y="3443811"/>
            <a:ext cx="9863141" cy="207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Variables: t period; i resource; j class; ci initial capacity; ptj arrival probability; bt,i affine resource price; θt affine intercept; D1/P1 are the affine primal-dual pair.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1" y="5005260"/>
            <a:ext cx="648935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Adelman (2007), pp. 653–655, eqs. (25)–(29), Theorem 2 and Corollary 1; counterexample derived.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13412" y="6612758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6085071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11622913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21/25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68817" y="2043008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 xml:space="preserve">The proof uses the first period with positive P1 support for a resource, complementary slackness,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68817" y="2338706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 xml:space="preserve">and price changes that preserve feasibility and optimality.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68817" y="2795695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 xml:space="preserve">Why “exists” matters: Example 1 admits θ₂=0, b₂=0.5, θ₁=0.75, b₁=0, with objective 0.75.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8817" y="3091393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 xml:space="preserve">Here b₁ &lt; b₂. Zero-demand and zero-capacity cases lie outside the theorem assumptions.</a:t>
            </a:r>
            <a:endParaRPr lang="en-US"/>
          </a:p>
        </p:txBody>
      </p:sp>
      <p:pic>
        <p:nvPicPr>
          <p:cNvPr id="15" name="Equation 15"/>
          <p:cNvPicPr/>
          <p:nvPr/>
        </p:nvPicPr>
        <p:blipFill>
          <a:blip r:embed="rId2"/>
          <a:stretch>
            <a:fillRect/>
          </a:stretch>
        </p:blipFill>
        <p:spPr>
          <a:xfrm>
            <a:off x="2137094" y="1357525"/>
            <a:ext cx="7903215" cy="61827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6444339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A8. Pricing, reduced costs, and stopping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1" y="3178036"/>
            <a:ext cx="5708937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itself does not claim NP-hardness or polynomial complexity.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1" y="3492574"/>
            <a:ext cx="11510661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Variables: t, T period/horizon; i, j resource/class; wj net expected class profit; di price change; ri , ci remaining/initial capacity; aij resource use; uj accept indicator; θt , bt intercept/slopes;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1" y="3678392"/>
            <a:ext cx="227509" cy="2214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i="1">
                <a:solidFill>
                  <a:srgbClr val="5A666F"/>
                </a:solidFill>
                <a:latin typeface="Cambria Math"/>
              </a:rPr>
              <a:t xml:space="preserve">ρ∗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365025" y="3798622"/>
            <a:ext cx="831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i="1">
                <a:solidFill>
                  <a:srgbClr val="5A666F"/>
                </a:solidFill>
                <a:latin typeface="Arial"/>
              </a:rPr>
              <a:t xml:space="preserve">t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524433" y="3680127"/>
            <a:ext cx="4596265" cy="2665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max reduced profit; ZΛ restricted-primary value; zP1 full value; ε tolerance.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67821" y="5148781"/>
            <a:ext cx="5881155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Adelman (2007), pp. 650–651, Proposition 3, and pp. 655–657, eqs. (33)–(36), Figure 2.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13412" y="6612757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6085071" y="6612757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11622913" y="6612757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22/25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8817" y="940859"/>
            <a:ext cx="11671520" cy="381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36">
                <a:solidFill>
                  <a:srgbClr val="000000"/>
                </a:solidFill>
                <a:latin typeface="Arial"/>
              </a:rPr>
              <a:t xml:space="preserve">For t&gt;1, define w_j = p_tj(f_j − b_{t+1}ᵀA_j) and d_i = b_{t,i} − b_{t+1,i}. Pricing solves</a:t>
            </a:r>
            <a:endParaRPr lang="en-US"/>
          </a:p>
        </p:txBody>
      </p:sp>
      <p:pic>
        <p:nvPicPr>
          <p:cNvPr id="15" name="Equation 15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0" y="1330643"/>
            <a:ext cx="11667647" cy="18206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183263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A9. Proposed experiment matrix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3293466"/>
            <a:ext cx="11543603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Factor levels, pilot size, final replication precision, seeds, and published replication target require approval before Phase 4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3547901"/>
            <a:ext cx="495172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runs.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5075260"/>
            <a:ext cx="4573299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Project experiment design proposal; no project experimental results.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13414" y="6612758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6085072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23/25</a:t>
            </a:r>
            <a:endParaRPr lang="en-US"/>
          </a:p>
        </p:txBody>
      </p:sp>
      <p:graphicFrame>
        <p:nvGraphicFramePr>
          <p:cNvPr id="11" name="Editable table 11"/>
          <p:cNvGraphicFramePr/>
          <p:nvPr/>
        </p:nvGraphicFramePr>
        <p:xfrm>
          <a:off x="266129" y="940859"/>
          <a:ext cx="11658587" cy="2177416"/>
        </p:xfrm>
        <a:graphic>
          <a:graphicData uri="http://schemas.openxmlformats.org/drawingml/2006/table">
            <a:tbl>
              <a:tblPr firstRow="1"/>
              <a:tblGrid>
                <a:gridCol w="2331717"/>
                <a:gridCol w="3147818"/>
                <a:gridCol w="6179052"/>
              </a:tblGrid>
              <a:tr h="362903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 b="1">
                          <a:solidFill>
                            <a:srgbClr val="000000"/>
                          </a:solidFill>
                          <a:latin typeface="Arial"/>
                        </a:rPr>
                        <a:t>Block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 b="1">
                          <a:solidFill>
                            <a:srgbClr val="000000"/>
                          </a:solidFill>
                          <a:latin typeface="Arial"/>
                        </a:rPr>
                        <a:t>Variation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 b="1">
                          <a:solidFill>
                            <a:srgbClr val="000000"/>
                          </a:solidFill>
                          <a:latin typeface="Arial"/>
                        </a:rPr>
                        <a:t>Evidence to record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2903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Verification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Example 1; two-resource case; edge cases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DP, exact LP and dual, fluid, full affine LP; values and residuals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2903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Bound strength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Size, load, timing, fare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Exact V* when feasible; fluid and certified affine bounds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2903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Policy value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Fixed and re-solved policies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Tiny-case exact value; policy and paired-difference 95% intervals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2903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Computation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Enumeration versus columns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Runtime, memory, iterations, generated columns, pricing gaps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2901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Truncation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Columns, states, horizon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Time saved, omitted constraints, surviving certificates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853522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A10. Instructor requirements I01–I07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3802309"/>
            <a:ext cx="11358490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Draft formulas in this brief are presentation material. The register remains planned until evidence paths and a separate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4056744"/>
            <a:ext cx="2097760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reviewer are recorded.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5327813"/>
            <a:ext cx="3909259" cy="172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requirements.csv, I01–I07; instructor prompt, pp. 1–2.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13414" y="6612758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6085072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24/25</a:t>
            </a:r>
            <a:endParaRPr lang="en-US"/>
          </a:p>
        </p:txBody>
      </p:sp>
      <p:graphicFrame>
        <p:nvGraphicFramePr>
          <p:cNvPr id="11" name="Editable table 11"/>
          <p:cNvGraphicFramePr/>
          <p:nvPr/>
        </p:nvGraphicFramePr>
        <p:xfrm>
          <a:off x="266129" y="940859"/>
          <a:ext cx="11658587" cy="2607523"/>
        </p:xfrm>
        <a:graphic>
          <a:graphicData uri="http://schemas.openxmlformats.org/drawingml/2006/table">
            <a:tbl>
              <a:tblPr firstRow="1"/>
              <a:tblGrid>
                <a:gridCol w="1165859"/>
                <a:gridCol w="1981960"/>
                <a:gridCol w="2098546"/>
                <a:gridCol w="6412222"/>
              </a:tblGrid>
              <a:tr h="325940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ID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Final part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Register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Evidence needed next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25940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I01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2–4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Discounted Bellman LP, occupancy dual, complementary slackness audit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25940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I02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Exact network MDP and state-growth analysis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25940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I03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2–3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Fluid primal/dual and static-policy validation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25940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3–5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Source-matched affine ALP and algorithm audit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25940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Paper method and solution approach, source-linked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25940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I06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3–5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Correct LP course-concept mapping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25943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I07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Principal theorem and independently reviewed proof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853522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 xml:space="preserve">A11. Instructor requirements I08–I14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3547901"/>
            <a:ext cx="11252863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I14 has approved questions on file, but its requirement register is not reviewed. I08 and I12 have no project numerical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3802309"/>
            <a:ext cx="1060577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 xml:space="preserve">results yet.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5200609"/>
            <a:ext cx="3693537" cy="172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Source: requirements.csv, I08–I14; instructor prompt, p. 2.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13414" y="6612758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Adelman Project IPR 2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6085072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Herbert Jockheck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 xml:space="preserve">25/25</a:t>
            </a:r>
            <a:endParaRPr lang="en-US"/>
          </a:p>
        </p:txBody>
      </p:sp>
      <p:graphicFrame>
        <p:nvGraphicFramePr>
          <p:cNvPr id="11" name="Editable table 11"/>
          <p:cNvGraphicFramePr/>
          <p:nvPr/>
        </p:nvGraphicFramePr>
        <p:xfrm>
          <a:off x="266129" y="940859"/>
          <a:ext cx="11658587" cy="2365588"/>
        </p:xfrm>
        <a:graphic>
          <a:graphicData uri="http://schemas.openxmlformats.org/drawingml/2006/table">
            <a:tbl>
              <a:tblPr firstRow="1"/>
              <a:tblGrid>
                <a:gridCol w="1165859"/>
                <a:gridCol w="1981960"/>
                <a:gridCol w="2098546"/>
                <a:gridCol w="6412222"/>
              </a:tblGrid>
              <a:tr h="295698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ID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Final part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Register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Evidence needed next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295698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I08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Reproducible fluid, static, and dynamic policy tests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295698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I09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3–4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Approximation benefit with verified example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295698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I10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Full bound-dominance derivation and audit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295698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I11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Pricing formulation and qualified complexity account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295698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I12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Policy, exact MDP, and fluid gap results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295698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I13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Evidence-based critique and alternatives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295702"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I14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1, 5, 8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Approved independent RQs linked to final analysis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Herbert Jockheck</dc:creator>
  <cp:lastModifiedBy>Herbert Jockheck</cp:lastModifiedBy>
  <cp:revision>1</cp:revision>
  <dcterms:created xsi:type="dcterms:W3CDTF">2026-10-29T18:06:38Z</dcterms:created>
  <dcterms:modified xsi:type="dcterms:W3CDTF">2026-10-29T18:06:38Z</dcterms:modified>
</cp:coreProperties>
</file>